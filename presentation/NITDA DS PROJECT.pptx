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0"/>
  </p:notesMasterIdLst>
  <p:handoutMasterIdLst>
    <p:handoutMasterId r:id="rId31"/>
  </p:handoutMasterIdLst>
  <p:sldIdLst>
    <p:sldId id="272" r:id="rId5"/>
    <p:sldId id="257" r:id="rId6"/>
    <p:sldId id="268" r:id="rId7"/>
    <p:sldId id="269" r:id="rId8"/>
    <p:sldId id="273" r:id="rId9"/>
    <p:sldId id="282" r:id="rId10"/>
    <p:sldId id="283" r:id="rId11"/>
    <p:sldId id="270" r:id="rId12"/>
    <p:sldId id="274" r:id="rId13"/>
    <p:sldId id="259" r:id="rId14"/>
    <p:sldId id="275" r:id="rId15"/>
    <p:sldId id="261" r:id="rId16"/>
    <p:sldId id="276" r:id="rId17"/>
    <p:sldId id="262" r:id="rId18"/>
    <p:sldId id="277" r:id="rId19"/>
    <p:sldId id="263" r:id="rId20"/>
    <p:sldId id="281" r:id="rId21"/>
    <p:sldId id="284" r:id="rId22"/>
    <p:sldId id="278" r:id="rId23"/>
    <p:sldId id="271" r:id="rId24"/>
    <p:sldId id="279" r:id="rId25"/>
    <p:sldId id="280" r:id="rId26"/>
    <p:sldId id="265" r:id="rId27"/>
    <p:sldId id="285" r:id="rId28"/>
    <p:sldId id="286" r:id="rId29"/>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FF"/>
    <a:srgbClr val="394404"/>
    <a:srgbClr val="5F6F0F"/>
    <a:srgbClr val="718412"/>
    <a:srgbClr val="65741A"/>
    <a:srgbClr val="70811D"/>
    <a:srgbClr val="7B8D1F"/>
    <a:srgbClr val="839721"/>
    <a:srgbClr val="95AB25"/>
    <a:srgbClr val="BC5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p:cViewPr>
        <p:scale>
          <a:sx n="86" d="100"/>
          <a:sy n="86" d="100"/>
        </p:scale>
        <p:origin x="723" y="90"/>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7942A0-B7D2-4B14-8FEA-55FC702F5BE7}" type="doc">
      <dgm:prSet loTypeId="urn:microsoft.com/office/officeart/2005/8/layout/vProcess5" loCatId="process" qsTypeId="urn:microsoft.com/office/officeart/2005/8/quickstyle/simple4" qsCatId="simple" csTypeId="urn:microsoft.com/office/officeart/2005/8/colors/colorful1" csCatId="colorful" phldr="1"/>
      <dgm:spPr/>
      <dgm:t>
        <a:bodyPr/>
        <a:lstStyle/>
        <a:p>
          <a:endParaRPr lang="en-US"/>
        </a:p>
      </dgm:t>
    </dgm:pt>
    <dgm:pt modelId="{72058EC2-E117-4D69-8078-D9B211A42123}">
      <dgm:prSet/>
      <dgm:spPr/>
      <dgm:t>
        <a:bodyPr/>
        <a:lstStyle/>
        <a:p>
          <a:pPr>
            <a:buNone/>
          </a:pPr>
          <a:r>
            <a:rPr lang="en-US" b="1" i="0"/>
            <a:t>Impact of Domestic Violence on Safety Perceptions</a:t>
          </a:r>
        </a:p>
      </dgm:t>
    </dgm:pt>
    <dgm:pt modelId="{5BD33DAF-7265-4C72-A9A5-EFB3956230DE}" type="parTrans" cxnId="{FCB152B8-060F-4ED8-BC53-2F3EE95D13FB}">
      <dgm:prSet/>
      <dgm:spPr/>
      <dgm:t>
        <a:bodyPr/>
        <a:lstStyle/>
        <a:p>
          <a:endParaRPr lang="en-US"/>
        </a:p>
      </dgm:t>
    </dgm:pt>
    <dgm:pt modelId="{B5C0E326-071C-40F9-9A5A-AF00319B729B}" type="sibTrans" cxnId="{FCB152B8-060F-4ED8-BC53-2F3EE95D13FB}">
      <dgm:prSet/>
      <dgm:spPr/>
      <dgm:t>
        <a:bodyPr/>
        <a:lstStyle/>
        <a:p>
          <a:endParaRPr lang="en-US"/>
        </a:p>
      </dgm:t>
    </dgm:pt>
    <dgm:pt modelId="{1D84D8B6-AB32-4491-B5D2-EFE3D7668B88}" type="pres">
      <dgm:prSet presAssocID="{CD7942A0-B7D2-4B14-8FEA-55FC702F5BE7}" presName="outerComposite" presStyleCnt="0">
        <dgm:presLayoutVars>
          <dgm:chMax val="5"/>
          <dgm:dir/>
          <dgm:resizeHandles val="exact"/>
        </dgm:presLayoutVars>
      </dgm:prSet>
      <dgm:spPr/>
    </dgm:pt>
    <dgm:pt modelId="{3E0E8213-E460-4EB7-9A92-C2B1CC553F0D}" type="pres">
      <dgm:prSet presAssocID="{CD7942A0-B7D2-4B14-8FEA-55FC702F5BE7}" presName="dummyMaxCanvas" presStyleCnt="0">
        <dgm:presLayoutVars/>
      </dgm:prSet>
      <dgm:spPr/>
    </dgm:pt>
    <dgm:pt modelId="{AAD8F7CC-A02E-4940-8313-F58DD5800930}" type="pres">
      <dgm:prSet presAssocID="{CD7942A0-B7D2-4B14-8FEA-55FC702F5BE7}" presName="OneNode_1" presStyleLbl="node1" presStyleIdx="0" presStyleCnt="1" custLinFactNeighborX="-576">
        <dgm:presLayoutVars>
          <dgm:bulletEnabled val="1"/>
        </dgm:presLayoutVars>
      </dgm:prSet>
      <dgm:spPr/>
    </dgm:pt>
  </dgm:ptLst>
  <dgm:cxnLst>
    <dgm:cxn modelId="{85586A78-5533-4EFA-ABD9-2C77F505D4A3}" type="presOf" srcId="{72058EC2-E117-4D69-8078-D9B211A42123}" destId="{AAD8F7CC-A02E-4940-8313-F58DD5800930}" srcOrd="0" destOrd="0" presId="urn:microsoft.com/office/officeart/2005/8/layout/vProcess5"/>
    <dgm:cxn modelId="{C2D0E194-BD14-4AD2-9E3A-CE984C34B6CD}" type="presOf" srcId="{CD7942A0-B7D2-4B14-8FEA-55FC702F5BE7}" destId="{1D84D8B6-AB32-4491-B5D2-EFE3D7668B88}" srcOrd="0" destOrd="0" presId="urn:microsoft.com/office/officeart/2005/8/layout/vProcess5"/>
    <dgm:cxn modelId="{FCB152B8-060F-4ED8-BC53-2F3EE95D13FB}" srcId="{CD7942A0-B7D2-4B14-8FEA-55FC702F5BE7}" destId="{72058EC2-E117-4D69-8078-D9B211A42123}" srcOrd="0" destOrd="0" parTransId="{5BD33DAF-7265-4C72-A9A5-EFB3956230DE}" sibTransId="{B5C0E326-071C-40F9-9A5A-AF00319B729B}"/>
    <dgm:cxn modelId="{768DB908-A4BF-48A6-A740-5DD0CBAFBB11}" type="presParOf" srcId="{1D84D8B6-AB32-4491-B5D2-EFE3D7668B88}" destId="{3E0E8213-E460-4EB7-9A92-C2B1CC553F0D}" srcOrd="0" destOrd="0" presId="urn:microsoft.com/office/officeart/2005/8/layout/vProcess5"/>
    <dgm:cxn modelId="{6199D94D-FE48-4D32-8A77-7D7632319FAD}" type="presParOf" srcId="{1D84D8B6-AB32-4491-B5D2-EFE3D7668B88}" destId="{AAD8F7CC-A02E-4940-8313-F58DD5800930}"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D8F7CC-A02E-4940-8313-F58DD5800930}">
      <dsp:nvSpPr>
        <dsp:cNvPr id="0" name=""/>
        <dsp:cNvSpPr/>
      </dsp:nvSpPr>
      <dsp:spPr>
        <a:xfrm>
          <a:off x="0" y="304800"/>
          <a:ext cx="7708848" cy="609600"/>
        </a:xfrm>
        <a:prstGeom prst="roundRect">
          <a:avLst>
            <a:gd name="adj" fmla="val 10000"/>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100000"/>
                <a:shade val="100000"/>
                <a:satMod val="155000"/>
              </a:schemeClr>
            </a:gs>
          </a:gsLst>
          <a:lin ang="16200000" scaled="0"/>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a:t>Impact of Domestic Violence on Safety Perceptions</a:t>
          </a:r>
        </a:p>
      </dsp:txBody>
      <dsp:txXfrm>
        <a:off x="17855" y="322655"/>
        <a:ext cx="7673138" cy="57389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8/19/2025</a:t>
            </a:fld>
            <a:endParaRPr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dirty="0"/>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8/19/2025</a:t>
            </a:fld>
            <a:endParaRPr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dirty="0"/>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BA5BD7-F043-4D1B-AA17-CD412FC534DE}" type="slidenum">
              <a:rPr lang="en-US" smtClean="0"/>
              <a:t>8</a:t>
            </a:fld>
            <a:endParaRPr lang="en-US" dirty="0"/>
          </a:p>
        </p:txBody>
      </p:sp>
    </p:spTree>
    <p:extLst>
      <p:ext uri="{BB962C8B-B14F-4D97-AF65-F5344CB8AC3E}">
        <p14:creationId xmlns:p14="http://schemas.microsoft.com/office/powerpoint/2010/main" val="4117229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dirty="0"/>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dirty="0"/>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dirty="0"/>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8/19/2025</a:t>
            </a:fld>
            <a:endParaRPr dirty="0"/>
          </a:p>
        </p:txBody>
      </p:sp>
      <p:sp>
        <p:nvSpPr>
          <p:cNvPr id="23" name="Footer Placeholder 22"/>
          <p:cNvSpPr>
            <a:spLocks noGrp="1"/>
          </p:cNvSpPr>
          <p:nvPr>
            <p:ph type="ftr" sz="quarter" idx="11"/>
          </p:nvPr>
        </p:nvSpPr>
        <p:spPr/>
        <p:txBody>
          <a:bodyPr/>
          <a:lstStyle/>
          <a:p>
            <a:endParaRPr dirty="0"/>
          </a:p>
        </p:txBody>
      </p:sp>
      <p:sp>
        <p:nvSpPr>
          <p:cNvPr id="24" name="Slide Number Placeholder 23"/>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8/19/2025</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8/19/2025</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8/19/2025</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8/19/2025</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8/19/2025</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8/19/2025</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8/19/2025</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dirty="0"/>
          </a:p>
        </p:txBody>
      </p:sp>
      <p:sp>
        <p:nvSpPr>
          <p:cNvPr id="5" name="Date Placeholder 4"/>
          <p:cNvSpPr>
            <a:spLocks noGrp="1"/>
          </p:cNvSpPr>
          <p:nvPr>
            <p:ph type="dt" sz="half" idx="10"/>
          </p:nvPr>
        </p:nvSpPr>
        <p:spPr/>
        <p:txBody>
          <a:bodyPr/>
          <a:lstStyle/>
          <a:p>
            <a:fld id="{F0DFD029-FB74-4578-B929-F66AA97659CA}" type="datetimeFigureOut">
              <a:rPr lang="en-US"/>
              <a:t>8/19/2025</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8/19/2025</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8/19/2025</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014DD1E-5D91-48A3-AD6D-45FBA980D106}" type="slidenum">
              <a:rPr/>
              <a:t>‹#›</a:t>
            </a:fld>
            <a:endParaRPr dirty="0"/>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8/19/2025</a:t>
            </a:fld>
            <a:endParaRPr dirty="0"/>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dirty="0"/>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dirty="0"/>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36D11-FD1F-C574-5983-A8D77DC80E0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CD6DEFE-5189-8AA9-DE46-48C6673B5E43}"/>
              </a:ext>
            </a:extLst>
          </p:cNvPr>
          <p:cNvPicPr>
            <a:picLocks noGrp="1" noChangeAspect="1"/>
          </p:cNvPicPr>
          <p:nvPr>
            <p:ph idx="1"/>
          </p:nvPr>
        </p:nvPicPr>
        <p:blipFill>
          <a:blip r:embed="rId2"/>
          <a:stretch>
            <a:fillRect/>
          </a:stretch>
        </p:blipFill>
        <p:spPr>
          <a:xfrm>
            <a:off x="0" y="0"/>
            <a:ext cx="12188825" cy="6858000"/>
          </a:xfrm>
        </p:spPr>
      </p:pic>
    </p:spTree>
    <p:extLst>
      <p:ext uri="{BB962C8B-B14F-4D97-AF65-F5344CB8AC3E}">
        <p14:creationId xmlns:p14="http://schemas.microsoft.com/office/powerpoint/2010/main" val="2006458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32212" y="3505200"/>
            <a:ext cx="4724400" cy="1219200"/>
          </a:xfrm>
        </p:spPr>
        <p:txBody>
          <a:bodyPr>
            <a:noAutofit/>
          </a:bodyPr>
          <a:lstStyle/>
          <a:p>
            <a:pPr algn="ctr"/>
            <a:br>
              <a:rPr lang="en-US" sz="2200" dirty="0">
                <a:solidFill>
                  <a:srgbClr val="00B0F0"/>
                </a:solidFill>
                <a:latin typeface="Century" panose="02040604050505020304" pitchFamily="18" charset="0"/>
              </a:rPr>
            </a:br>
            <a:r>
              <a:rPr lang="en-US" sz="2200" dirty="0">
                <a:latin typeface="Century" panose="02040604050505020304" pitchFamily="18" charset="0"/>
              </a:rPr>
              <a:t>PRESENTATION BY: </a:t>
            </a:r>
            <a:br>
              <a:rPr lang="en-US" sz="2200" dirty="0">
                <a:latin typeface="Century" panose="02040604050505020304" pitchFamily="18" charset="0"/>
              </a:rPr>
            </a:br>
            <a:r>
              <a:rPr lang="en-US" sz="2200" dirty="0">
                <a:solidFill>
                  <a:srgbClr val="00B0F0"/>
                </a:solidFill>
                <a:latin typeface="Century" panose="02040604050505020304" pitchFamily="18" charset="0"/>
              </a:rPr>
              <a:t>GROUP 4</a:t>
            </a:r>
            <a:br>
              <a:rPr lang="en-US" sz="2200" dirty="0">
                <a:latin typeface="Century" panose="02040604050505020304" pitchFamily="18" charset="0"/>
              </a:rPr>
            </a:br>
            <a:endParaRPr lang="en-US" sz="2200" dirty="0">
              <a:latin typeface="Century" panose="02040604050505020304" pitchFamily="18" charset="0"/>
            </a:endParaRPr>
          </a:p>
        </p:txBody>
      </p:sp>
      <p:sp>
        <p:nvSpPr>
          <p:cNvPr id="5" name="Subtitle 4"/>
          <p:cNvSpPr>
            <a:spLocks noGrp="1"/>
          </p:cNvSpPr>
          <p:nvPr>
            <p:ph type="subTitle" idx="1"/>
          </p:nvPr>
        </p:nvSpPr>
        <p:spPr>
          <a:xfrm rot="11019463" flipH="1">
            <a:off x="14157191" y="4308307"/>
            <a:ext cx="45719" cy="45719"/>
          </a:xfrm>
        </p:spPr>
        <p:txBody>
          <a:bodyPr>
            <a:normAutofit fontScale="25000" lnSpcReduction="20000"/>
          </a:bodyPr>
          <a:lstStyle/>
          <a:p>
            <a:endParaRPr lang="en-US" dirty="0"/>
          </a:p>
        </p:txBody>
      </p:sp>
      <p:sp>
        <p:nvSpPr>
          <p:cNvPr id="3" name="TextBox 2">
            <a:extLst>
              <a:ext uri="{FF2B5EF4-FFF2-40B4-BE49-F238E27FC236}">
                <a16:creationId xmlns:a16="http://schemas.microsoft.com/office/drawing/2014/main" id="{A4E1EB3B-95C2-E8D1-7159-04AD87D82300}"/>
              </a:ext>
            </a:extLst>
          </p:cNvPr>
          <p:cNvSpPr txBox="1"/>
          <p:nvPr/>
        </p:nvSpPr>
        <p:spPr>
          <a:xfrm>
            <a:off x="1084262" y="2286000"/>
            <a:ext cx="10020300" cy="1569660"/>
          </a:xfrm>
          <a:prstGeom prst="rect">
            <a:avLst/>
          </a:prstGeom>
          <a:noFill/>
        </p:spPr>
        <p:txBody>
          <a:bodyPr wrap="square" rtlCol="0">
            <a:spAutoFit/>
          </a:bodyPr>
          <a:lstStyle/>
          <a:p>
            <a:pPr algn="ctr"/>
            <a:r>
              <a:rPr lang="en-US" sz="3200" dirty="0">
                <a:latin typeface="Century" panose="02040604050505020304" pitchFamily="18" charset="0"/>
              </a:rPr>
              <a:t>Title : </a:t>
            </a:r>
            <a:r>
              <a:rPr lang="en-US" sz="3200" b="1" dirty="0">
                <a:solidFill>
                  <a:srgbClr val="00B0F0"/>
                </a:solidFill>
                <a:latin typeface="Century" panose="02040604050505020304" pitchFamily="18" charset="0"/>
              </a:rPr>
              <a:t>THE EFFECT OF DOMESTIC VIOLENCE ON WOMEN MENTAL HEALTH</a:t>
            </a:r>
            <a:r>
              <a:rPr lang="en-US" sz="3200" b="1" dirty="0">
                <a:latin typeface="Century" panose="02040604050505020304" pitchFamily="18" charset="0"/>
              </a:rPr>
              <a:t>.</a:t>
            </a:r>
            <a:br>
              <a:rPr lang="en-US" sz="3200" b="1" dirty="0">
                <a:latin typeface="Century" panose="02040604050505020304" pitchFamily="18" charset="0"/>
              </a:rPr>
            </a:br>
            <a:endParaRPr lang="en-US" sz="3200" b="1" dirty="0">
              <a:latin typeface="Century" panose="02040604050505020304" pitchFamily="18" charset="0"/>
            </a:endParaRPr>
          </a:p>
        </p:txBody>
      </p:sp>
      <p:sp>
        <p:nvSpPr>
          <p:cNvPr id="6" name="TextBox 5">
            <a:extLst>
              <a:ext uri="{FF2B5EF4-FFF2-40B4-BE49-F238E27FC236}">
                <a16:creationId xmlns:a16="http://schemas.microsoft.com/office/drawing/2014/main" id="{3712C347-9B0B-6C8D-1863-23FDBA1BE470}"/>
              </a:ext>
            </a:extLst>
          </p:cNvPr>
          <p:cNvSpPr txBox="1"/>
          <p:nvPr/>
        </p:nvSpPr>
        <p:spPr>
          <a:xfrm>
            <a:off x="4436268" y="4648200"/>
            <a:ext cx="3316288" cy="369332"/>
          </a:xfrm>
          <a:prstGeom prst="rect">
            <a:avLst/>
          </a:prstGeom>
          <a:noFill/>
        </p:spPr>
        <p:txBody>
          <a:bodyPr wrap="square">
            <a:spAutoFit/>
          </a:bodyPr>
          <a:lstStyle/>
          <a:p>
            <a:pPr algn="ctr"/>
            <a:r>
              <a:rPr lang="en-US" sz="1800" dirty="0">
                <a:latin typeface="Century" panose="02040604050505020304" pitchFamily="18" charset="0"/>
              </a:rPr>
              <a:t>DATE</a:t>
            </a:r>
            <a:r>
              <a:rPr lang="en-US" sz="1800" dirty="0">
                <a:solidFill>
                  <a:srgbClr val="00B0F0"/>
                </a:solidFill>
                <a:latin typeface="Century" panose="02040604050505020304" pitchFamily="18" charset="0"/>
              </a:rPr>
              <a:t>: 20 AGUST 2024</a:t>
            </a:r>
            <a:endParaRPr lang="en-US" sz="1800" dirty="0">
              <a:latin typeface="Century" panose="02040604050505020304" pitchFamily="18" charset="0"/>
            </a:endParaRPr>
          </a:p>
        </p:txBody>
      </p:sp>
      <p:pic>
        <p:nvPicPr>
          <p:cNvPr id="7" name="Content Placeholder 4">
            <a:extLst>
              <a:ext uri="{FF2B5EF4-FFF2-40B4-BE49-F238E27FC236}">
                <a16:creationId xmlns:a16="http://schemas.microsoft.com/office/drawing/2014/main" id="{41FFF657-5D3B-7FDE-1D09-D043DC59E10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28906" y1="58281" x2="28906" y2="58281"/>
                        <a14:foregroundMark x1="16094" y1="58750" x2="56875" y2="57500"/>
                        <a14:foregroundMark x1="56875" y1="57500" x2="80000" y2="56875"/>
                        <a14:foregroundMark x1="80000" y1="56875" x2="86250" y2="57344"/>
                        <a14:foregroundMark x1="84844" y1="60938" x2="40000" y2="56406"/>
                        <a14:foregroundMark x1="15469" y1="59219" x2="42188" y2="60156"/>
                        <a14:foregroundMark x1="42188" y1="60156" x2="64844" y2="58750"/>
                        <a14:foregroundMark x1="64844" y1="58750" x2="85938" y2="60469"/>
                        <a14:foregroundMark x1="16406" y1="63750" x2="62500" y2="65156"/>
                        <a14:foregroundMark x1="62500" y1="65156" x2="63281" y2="64844"/>
                        <a14:foregroundMark x1="16250" y1="55937" x2="16563" y2="55313"/>
                        <a14:foregroundMark x1="17031" y1="61719" x2="39688" y2="66094"/>
                        <a14:foregroundMark x1="39688" y1="66094" x2="85313" y2="62969"/>
                        <a14:foregroundMark x1="85313" y1="62969" x2="85625" y2="62969"/>
                        <a14:foregroundMark x1="62187" y1="62500" x2="82656" y2="62813"/>
                        <a14:foregroundMark x1="85781" y1="48594" x2="85625" y2="63750"/>
                        <a14:foregroundMark x1="62500" y1="62969" x2="83750" y2="62813"/>
                        <a14:foregroundMark x1="36250" y1="44063" x2="36250" y2="44063"/>
                        <a14:foregroundMark x1="40000" y1="45938" x2="32031" y2="56406"/>
                        <a14:foregroundMark x1="30000" y1="45469" x2="52812" y2="47344"/>
                        <a14:foregroundMark x1="35469" y1="40781" x2="57500" y2="43125"/>
                        <a14:foregroundMark x1="13906" y1="37969" x2="40781" y2="40625"/>
                        <a14:foregroundMark x1="16875" y1="36563" x2="47500" y2="38594"/>
                        <a14:foregroundMark x1="15000" y1="35781" x2="64375" y2="40938"/>
                        <a14:foregroundMark x1="64375" y1="40938" x2="81094" y2="39844"/>
                        <a14:foregroundMark x1="64063" y1="43438" x2="77188" y2="43594"/>
                        <a14:foregroundMark x1="78906" y1="38125" x2="85000" y2="51563"/>
                        <a14:foregroundMark x1="80156" y1="37031" x2="85000" y2="54688"/>
                        <a14:foregroundMark x1="79844" y1="38125" x2="83906" y2="50313"/>
                        <a14:foregroundMark x1="80469" y1="40156" x2="85313" y2="40781"/>
                        <a14:foregroundMark x1="83438" y1="44688" x2="88594" y2="45156"/>
                        <a14:foregroundMark x1="80156" y1="40313" x2="85156" y2="42344"/>
                      </a14:backgroundRemoval>
                    </a14:imgEffect>
                  </a14:imgLayer>
                </a14:imgProps>
              </a:ext>
            </a:extLst>
          </a:blip>
          <a:stretch>
            <a:fillRect/>
          </a:stretch>
        </p:blipFill>
        <p:spPr>
          <a:xfrm>
            <a:off x="9980612" y="340002"/>
            <a:ext cx="2050058" cy="1153458"/>
          </a:xfrm>
          <a:prstGeom prst="rect">
            <a:avLst/>
          </a:prstGeom>
        </p:spPr>
      </p:pic>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989012" y="1219200"/>
            <a:ext cx="10360501" cy="1264009"/>
          </a:xfrm>
        </p:spPr>
        <p:txBody>
          <a:bodyPr>
            <a:normAutofit fontScale="90000"/>
          </a:bodyPr>
          <a:lstStyle/>
          <a:p>
            <a:pPr algn="just"/>
            <a:r>
              <a:rPr lang="en-US" sz="2800" dirty="0">
                <a:latin typeface="Garamond" panose="02020404030301010803" pitchFamily="18" charset="0"/>
              </a:rPr>
              <a:t>Objective: To analyze the prevalence of domestic violence (DV) exposure among women and its relationship with safety </a:t>
            </a:r>
            <a:r>
              <a:rPr lang="en-US" sz="2800" dirty="0" err="1">
                <a:latin typeface="Garamond" panose="02020404030301010803" pitchFamily="18" charset="0"/>
              </a:rPr>
              <a:t>perceptions,well-beging,and</a:t>
            </a:r>
            <a:r>
              <a:rPr lang="en-US" sz="2800" dirty="0">
                <a:latin typeface="Garamond" panose="02020404030301010803" pitchFamily="18" charset="0"/>
              </a:rPr>
              <a:t> other demographic factors.</a:t>
            </a:r>
          </a:p>
        </p:txBody>
      </p:sp>
      <p:sp>
        <p:nvSpPr>
          <p:cNvPr id="6" name="Content Placeholder 13">
            <a:extLst>
              <a:ext uri="{FF2B5EF4-FFF2-40B4-BE49-F238E27FC236}">
                <a16:creationId xmlns:a16="http://schemas.microsoft.com/office/drawing/2014/main" id="{F4D5CF78-C735-AF25-5BF4-7504AEBE560A}"/>
              </a:ext>
            </a:extLst>
          </p:cNvPr>
          <p:cNvSpPr txBox="1">
            <a:spLocks/>
          </p:cNvSpPr>
          <p:nvPr/>
        </p:nvSpPr>
        <p:spPr>
          <a:xfrm>
            <a:off x="836610" y="2819400"/>
            <a:ext cx="10360501" cy="3810001"/>
          </a:xfrm>
          <a:prstGeom prst="rect">
            <a:avLst/>
          </a:prstGeom>
        </p:spPr>
        <p:txBody>
          <a:bodyPr vert="horz" lIns="121899" tIns="60949" rIns="121899" bIns="60949" rtlCol="0">
            <a:normAutofit lnSpcReduction="10000"/>
          </a:bodyPr>
          <a:lst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a:lstStyle>
          <a:p>
            <a:pPr marL="73140" indent="0" algn="just">
              <a:buNone/>
            </a:pPr>
            <a:r>
              <a:rPr lang="en-US" sz="2000" b="1" dirty="0">
                <a:latin typeface="Garamond" panose="02020404030301010803" pitchFamily="18" charset="0"/>
              </a:rPr>
              <a:t>ANALYTICAL QUESTIONS</a:t>
            </a:r>
            <a:r>
              <a:rPr lang="en-US" b="1" dirty="0">
                <a:latin typeface="Garamond" panose="02020404030301010803" pitchFamily="18" charset="0"/>
              </a:rPr>
              <a:t>:</a:t>
            </a:r>
          </a:p>
          <a:p>
            <a:pPr marL="587490" indent="-514350" algn="just">
              <a:buFont typeface="+mj-lt"/>
              <a:buAutoNum type="arabicPeriod"/>
            </a:pPr>
            <a:r>
              <a:rPr lang="en-US" sz="1800" dirty="0">
                <a:latin typeface="Garamond" panose="02020404030301010803" pitchFamily="18" charset="0"/>
              </a:rPr>
              <a:t>What percentage of women have experienced or know someone who has experienced domestic violence?</a:t>
            </a:r>
          </a:p>
          <a:p>
            <a:pPr marL="587490" indent="-514350">
              <a:buFont typeface="+mj-lt"/>
              <a:buAutoNum type="arabicPeriod"/>
            </a:pPr>
            <a:r>
              <a:rPr lang="en-US" sz="1800" dirty="0">
                <a:latin typeface="Garamond" panose="02020404030301010803" pitchFamily="18" charset="0"/>
              </a:rPr>
              <a:t>Is there a significant relationship between DV exposure and feelings of safety?</a:t>
            </a:r>
          </a:p>
          <a:p>
            <a:pPr marL="587490" indent="-514350">
              <a:buFont typeface="+mj-lt"/>
              <a:buAutoNum type="arabicPeriod"/>
            </a:pPr>
            <a:r>
              <a:rPr lang="en-US" sz="1800" dirty="0">
                <a:latin typeface="Garamond" panose="02020404030301010803" pitchFamily="18" charset="0"/>
              </a:rPr>
              <a:t>How do different types of DV impact feelings of safety and well-being?</a:t>
            </a:r>
          </a:p>
          <a:p>
            <a:pPr marL="587490" indent="-514350">
              <a:buFont typeface="+mj-lt"/>
              <a:buAutoNum type="arabicPeriod"/>
            </a:pPr>
            <a:r>
              <a:rPr lang="en-US" sz="1800" dirty="0">
                <a:latin typeface="Garamond" panose="02020404030301010803" pitchFamily="18" charset="0"/>
              </a:rPr>
              <a:t>Does conflict frequency mediate the relationship between DV and safety perceptions?</a:t>
            </a:r>
          </a:p>
          <a:p>
            <a:pPr marL="587490" indent="-514350">
              <a:buFont typeface="+mj-lt"/>
              <a:buAutoNum type="arabicPeriod"/>
            </a:pPr>
            <a:r>
              <a:rPr lang="en-US" sz="1800" dirty="0">
                <a:latin typeface="Garamond" panose="02020404030301010803" pitchFamily="18" charset="0"/>
              </a:rPr>
              <a:t>How does seeking help moderate the effects of DV on safety and mobility?</a:t>
            </a:r>
          </a:p>
          <a:p>
            <a:pPr marL="587490" indent="-514350">
              <a:buFont typeface="+mj-lt"/>
              <a:buAutoNum type="arabicPeriod"/>
            </a:pPr>
            <a:r>
              <a:rPr lang="en-US" sz="1800" dirty="0">
                <a:latin typeface="Garamond" panose="02020404030301010803" pitchFamily="18" charset="0"/>
              </a:rPr>
              <a:t>Are women with disabilities at higher risk of experiencing DV and lower well-being scores?</a:t>
            </a:r>
          </a:p>
          <a:p>
            <a:pPr marL="587490" indent="-514350">
              <a:buFont typeface="+mj-lt"/>
              <a:buAutoNum type="arabicPeriod"/>
            </a:pPr>
            <a:r>
              <a:rPr lang="en-US" sz="1800" dirty="0">
                <a:latin typeface="Garamond" panose="02020404030301010803" pitchFamily="18" charset="0"/>
              </a:rPr>
              <a:t>Do women exposed to domestic violence report higher levels of mental health strain indicators  such as food insecurity (rA12) and feeling unsafe walking alone during the day/night</a:t>
            </a:r>
          </a:p>
        </p:txBody>
      </p:sp>
      <p:sp>
        <p:nvSpPr>
          <p:cNvPr id="3" name="TextBox 2">
            <a:extLst>
              <a:ext uri="{FF2B5EF4-FFF2-40B4-BE49-F238E27FC236}">
                <a16:creationId xmlns:a16="http://schemas.microsoft.com/office/drawing/2014/main" id="{29A69AA5-3091-D18F-733C-3F5943B71B26}"/>
              </a:ext>
            </a:extLst>
          </p:cNvPr>
          <p:cNvSpPr txBox="1"/>
          <p:nvPr/>
        </p:nvSpPr>
        <p:spPr>
          <a:xfrm>
            <a:off x="3970990" y="403918"/>
            <a:ext cx="4091739" cy="584775"/>
          </a:xfrm>
          <a:prstGeom prst="rect">
            <a:avLst/>
          </a:prstGeom>
          <a:noFill/>
        </p:spPr>
        <p:txBody>
          <a:bodyPr wrap="square">
            <a:spAutoFit/>
          </a:bodyPr>
          <a:lstStyle/>
          <a:p>
            <a:pPr algn="ctr"/>
            <a:r>
              <a:rPr lang="en-US" sz="3200" b="1" dirty="0">
                <a:solidFill>
                  <a:srgbClr val="00B0F0"/>
                </a:solidFill>
                <a:latin typeface="Garamond" panose="02020404030301010803" pitchFamily="18" charset="0"/>
              </a:rPr>
              <a:t>INTRODUCTION</a:t>
            </a:r>
            <a:endParaRPr lang="en-US" sz="3200" b="1" dirty="0">
              <a:latin typeface="Garamond" panose="02020404030301010803" pitchFamily="18" charset="0"/>
            </a:endParaRPr>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7D99F7B3-1A92-076B-6D7D-F97EEC07EDE2}"/>
              </a:ext>
            </a:extLst>
          </p:cNvPr>
          <p:cNvSpPr>
            <a:spLocks noGrp="1"/>
          </p:cNvSpPr>
          <p:nvPr>
            <p:ph sz="half" idx="1"/>
          </p:nvPr>
        </p:nvSpPr>
        <p:spPr>
          <a:xfrm>
            <a:off x="1598612" y="1219313"/>
            <a:ext cx="9676129" cy="4724400"/>
          </a:xfrm>
        </p:spPr>
        <p:txBody>
          <a:bodyPr numCol="1">
            <a:normAutofit lnSpcReduction="10000"/>
          </a:bodyPr>
          <a:lstStyle/>
          <a:p>
            <a:pPr marL="0" indent="0" algn="ctr">
              <a:buNone/>
            </a:pPr>
            <a:r>
              <a:rPr lang="en-US" sz="2400" b="1" dirty="0">
                <a:latin typeface="Garamond" panose="02020404030301010803" pitchFamily="18" charset="0"/>
              </a:rPr>
              <a:t> </a:t>
            </a:r>
            <a:endParaRPr lang="en-US" sz="2400" b="1" dirty="0">
              <a:solidFill>
                <a:srgbClr val="00B0F0"/>
              </a:solidFill>
              <a:latin typeface="Garamond" panose="02020404030301010803" pitchFamily="18" charset="0"/>
            </a:endParaRPr>
          </a:p>
          <a:p>
            <a:r>
              <a:rPr lang="en-US" sz="2400" b="1" dirty="0">
                <a:latin typeface="Garamond" panose="02020404030301010803" pitchFamily="18" charset="0"/>
              </a:rPr>
              <a:t>Overall Prevalence:</a:t>
            </a:r>
            <a:r>
              <a:rPr lang="en-US" sz="2400" dirty="0">
                <a:latin typeface="Garamond" panose="02020404030301010803" pitchFamily="18" charset="0"/>
              </a:rPr>
              <a:t>57.98% of women reported experiencing or knowing someone who has experienced DV.</a:t>
            </a:r>
          </a:p>
          <a:p>
            <a:r>
              <a:rPr lang="en-US" sz="2400" b="1" dirty="0">
                <a:latin typeface="Garamond" panose="02020404030301010803" pitchFamily="18" charset="0"/>
              </a:rPr>
              <a:t>Breakdown by Age Group:</a:t>
            </a:r>
            <a:r>
              <a:rPr lang="en-US" sz="2400" dirty="0">
                <a:latin typeface="Garamond" panose="02020404030301010803" pitchFamily="18" charset="0"/>
              </a:rPr>
              <a:t>18-29 years: 61.5%</a:t>
            </a:r>
          </a:p>
          <a:p>
            <a:r>
              <a:rPr lang="en-US" sz="2400" dirty="0">
                <a:latin typeface="Garamond" panose="02020404030301010803" pitchFamily="18" charset="0"/>
              </a:rPr>
              <a:t>30-39 years: 60.8%</a:t>
            </a:r>
          </a:p>
          <a:p>
            <a:r>
              <a:rPr lang="en-US" sz="2400" dirty="0">
                <a:latin typeface="Garamond" panose="02020404030301010803" pitchFamily="18" charset="0"/>
              </a:rPr>
              <a:t>40-49 years: 59.1%</a:t>
            </a:r>
          </a:p>
          <a:p>
            <a:r>
              <a:rPr lang="en-US" sz="2400" dirty="0">
                <a:latin typeface="Garamond" panose="02020404030301010803" pitchFamily="18" charset="0"/>
              </a:rPr>
              <a:t>50-59 years: 56.4%</a:t>
            </a:r>
          </a:p>
          <a:p>
            <a:r>
              <a:rPr lang="en-US" sz="2400" dirty="0">
                <a:latin typeface="Garamond" panose="02020404030301010803" pitchFamily="18" charset="0"/>
              </a:rPr>
              <a:t>60 years and older: 44.0%</a:t>
            </a:r>
          </a:p>
          <a:p>
            <a:r>
              <a:rPr lang="en-US" sz="2400" b="1" dirty="0">
                <a:latin typeface="Garamond" panose="02020404030301010803" pitchFamily="18" charset="0"/>
              </a:rPr>
              <a:t>Statistical Significance:</a:t>
            </a:r>
            <a:r>
              <a:rPr lang="en-US" sz="2400" dirty="0">
                <a:latin typeface="Garamond" panose="02020404030301010803" pitchFamily="18" charset="0"/>
              </a:rPr>
              <a:t> Chi-squared tests indicate significant differences across age groups (p &lt; 2.2e-16).</a:t>
            </a:r>
          </a:p>
          <a:p>
            <a:pPr marL="0" indent="0">
              <a:buNone/>
            </a:pPr>
            <a:endParaRPr lang="en-US" sz="2400" dirty="0">
              <a:latin typeface="Garamond" panose="02020404030301010803" pitchFamily="18" charset="0"/>
            </a:endParaRPr>
          </a:p>
          <a:p>
            <a:pPr algn="ctr"/>
            <a:endParaRPr lang="en-US" sz="2400" dirty="0">
              <a:latin typeface="Garamond" panose="02020404030301010803" pitchFamily="18" charset="0"/>
            </a:endParaRPr>
          </a:p>
        </p:txBody>
      </p:sp>
      <p:sp>
        <p:nvSpPr>
          <p:cNvPr id="3" name="TextBox 2">
            <a:extLst>
              <a:ext uri="{FF2B5EF4-FFF2-40B4-BE49-F238E27FC236}">
                <a16:creationId xmlns:a16="http://schemas.microsoft.com/office/drawing/2014/main" id="{ECA0507B-86BC-895D-D273-9B0C28B6889A}"/>
              </a:ext>
            </a:extLst>
          </p:cNvPr>
          <p:cNvSpPr txBox="1"/>
          <p:nvPr/>
        </p:nvSpPr>
        <p:spPr>
          <a:xfrm>
            <a:off x="2398076" y="609600"/>
            <a:ext cx="8077200" cy="584775"/>
          </a:xfrm>
          <a:prstGeom prst="rect">
            <a:avLst/>
          </a:prstGeom>
          <a:noFill/>
        </p:spPr>
        <p:txBody>
          <a:bodyPr wrap="square">
            <a:spAutoFit/>
          </a:bodyPr>
          <a:lstStyle/>
          <a:p>
            <a:r>
              <a:rPr lang="en-US" sz="3200" b="1" dirty="0">
                <a:solidFill>
                  <a:srgbClr val="00B0F0"/>
                </a:solidFill>
                <a:latin typeface="Garamond" panose="02020404030301010803" pitchFamily="18" charset="0"/>
              </a:rPr>
              <a:t>Prevalence of Domestic Violence Exposure</a:t>
            </a:r>
            <a:endParaRPr lang="en-US" sz="3200" dirty="0">
              <a:latin typeface="Garamond" panose="02020404030301010803" pitchFamily="18" charset="0"/>
            </a:endParaRPr>
          </a:p>
        </p:txBody>
      </p:sp>
    </p:spTree>
    <p:extLst>
      <p:ext uri="{BB962C8B-B14F-4D97-AF65-F5344CB8AC3E}">
        <p14:creationId xmlns:p14="http://schemas.microsoft.com/office/powerpoint/2010/main" val="234191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48FC6-58B6-FD25-015C-68CAD1D6E835}"/>
              </a:ext>
            </a:extLst>
          </p:cNvPr>
          <p:cNvSpPr>
            <a:spLocks noGrp="1"/>
          </p:cNvSpPr>
          <p:nvPr>
            <p:ph type="title"/>
          </p:nvPr>
        </p:nvSpPr>
        <p:spPr>
          <a:xfrm>
            <a:off x="1218883" y="274637"/>
            <a:ext cx="10360501" cy="792163"/>
          </a:xfrm>
        </p:spPr>
        <p:txBody>
          <a:bodyPr/>
          <a:lstStyle/>
          <a:p>
            <a:r>
              <a:rPr lang="en-US" dirty="0">
                <a:solidFill>
                  <a:srgbClr val="00B0F0"/>
                </a:solidFill>
              </a:rPr>
              <a:t>DOMESTIC VIOLENCE EXPOSURE BY AGE GROUP</a:t>
            </a:r>
          </a:p>
        </p:txBody>
      </p:sp>
      <p:pic>
        <p:nvPicPr>
          <p:cNvPr id="6" name="Content Placeholder 5">
            <a:extLst>
              <a:ext uri="{FF2B5EF4-FFF2-40B4-BE49-F238E27FC236}">
                <a16:creationId xmlns:a16="http://schemas.microsoft.com/office/drawing/2014/main" id="{E6A08A16-8BE3-D246-E01D-1671A4C429E0}"/>
              </a:ext>
            </a:extLst>
          </p:cNvPr>
          <p:cNvPicPr>
            <a:picLocks noGrp="1" noChangeAspect="1"/>
          </p:cNvPicPr>
          <p:nvPr>
            <p:ph sz="half" idx="2"/>
          </p:nvPr>
        </p:nvPicPr>
        <p:blipFill>
          <a:blip r:embed="rId2"/>
          <a:stretch>
            <a:fillRect/>
          </a:stretch>
        </p:blipFill>
        <p:spPr>
          <a:xfrm>
            <a:off x="5789612" y="1371600"/>
            <a:ext cx="5334000" cy="5105400"/>
          </a:xfrm>
        </p:spPr>
      </p:pic>
      <p:sp>
        <p:nvSpPr>
          <p:cNvPr id="3" name="TextBox 2">
            <a:extLst>
              <a:ext uri="{FF2B5EF4-FFF2-40B4-BE49-F238E27FC236}">
                <a16:creationId xmlns:a16="http://schemas.microsoft.com/office/drawing/2014/main" id="{4F12ABFD-8444-3EED-9387-AD5D3DFAE96D}"/>
              </a:ext>
            </a:extLst>
          </p:cNvPr>
          <p:cNvSpPr txBox="1"/>
          <p:nvPr/>
        </p:nvSpPr>
        <p:spPr>
          <a:xfrm>
            <a:off x="1190714" y="1371600"/>
            <a:ext cx="3961129" cy="4955203"/>
          </a:xfrm>
          <a:prstGeom prst="rect">
            <a:avLst/>
          </a:prstGeom>
          <a:noFill/>
        </p:spPr>
        <p:txBody>
          <a:bodyPr wrap="square" rtlCol="0">
            <a:spAutoFit/>
          </a:bodyPr>
          <a:lstStyle/>
          <a:p>
            <a:r>
              <a:rPr lang="en-US" dirty="0"/>
              <a:t> The prevalence of DV exposure is highest among younger women aged 18-29 years (61.5%) and gradually decreases with age, reaching a low of 44.0% in women aged 60 years and older. This suggests that younger women may be more vulnerable or more likely to report such experiences.</a:t>
            </a:r>
          </a:p>
          <a:p>
            <a:br>
              <a:rPr lang="en-US" dirty="0"/>
            </a:br>
            <a:endParaRPr lang="en-US" sz="2800" dirty="0"/>
          </a:p>
        </p:txBody>
      </p:sp>
    </p:spTree>
    <p:extLst>
      <p:ext uri="{BB962C8B-B14F-4D97-AF65-F5344CB8AC3E}">
        <p14:creationId xmlns:p14="http://schemas.microsoft.com/office/powerpoint/2010/main" val="3216885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AC9C9-69D9-D951-FD51-875ED7EA69AC}"/>
              </a:ext>
            </a:extLst>
          </p:cNvPr>
          <p:cNvSpPr>
            <a:spLocks noGrp="1"/>
          </p:cNvSpPr>
          <p:nvPr>
            <p:ph type="title"/>
          </p:nvPr>
        </p:nvSpPr>
        <p:spPr/>
        <p:txBody>
          <a:bodyPr>
            <a:normAutofit fontScale="90000"/>
          </a:bodyPr>
          <a:lstStyle/>
          <a:p>
            <a:br>
              <a:rPr lang="en-US" b="1" dirty="0"/>
            </a:br>
            <a:br>
              <a:rPr lang="en-US" dirty="0"/>
            </a:br>
            <a:endParaRPr lang="en-US" dirty="0"/>
          </a:p>
        </p:txBody>
      </p:sp>
      <p:sp>
        <p:nvSpPr>
          <p:cNvPr id="5" name="TextBox 4">
            <a:extLst>
              <a:ext uri="{FF2B5EF4-FFF2-40B4-BE49-F238E27FC236}">
                <a16:creationId xmlns:a16="http://schemas.microsoft.com/office/drawing/2014/main" id="{49ABFDC5-40E4-FB61-E0E7-C3FBEC34DB98}"/>
              </a:ext>
            </a:extLst>
          </p:cNvPr>
          <p:cNvSpPr txBox="1"/>
          <p:nvPr/>
        </p:nvSpPr>
        <p:spPr>
          <a:xfrm>
            <a:off x="3427412" y="363398"/>
            <a:ext cx="5334000" cy="523220"/>
          </a:xfrm>
          <a:prstGeom prst="rect">
            <a:avLst/>
          </a:prstGeom>
          <a:noFill/>
        </p:spPr>
        <p:txBody>
          <a:bodyPr wrap="square" rtlCol="0">
            <a:spAutoFit/>
          </a:bodyPr>
          <a:lstStyle/>
          <a:p>
            <a:pPr algn="ctr"/>
            <a:r>
              <a:rPr lang="en-US" sz="2800" dirty="0">
                <a:solidFill>
                  <a:srgbClr val="00B0F0"/>
                </a:solidFill>
              </a:rPr>
              <a:t>ANALYSIS QUESTION 1(CONTENUE)</a:t>
            </a:r>
          </a:p>
        </p:txBody>
      </p:sp>
      <p:sp>
        <p:nvSpPr>
          <p:cNvPr id="6" name="TextBox 5">
            <a:extLst>
              <a:ext uri="{FF2B5EF4-FFF2-40B4-BE49-F238E27FC236}">
                <a16:creationId xmlns:a16="http://schemas.microsoft.com/office/drawing/2014/main" id="{4F0BF779-FAD2-BBFE-701D-C021296BEEAA}"/>
              </a:ext>
            </a:extLst>
          </p:cNvPr>
          <p:cNvSpPr txBox="1"/>
          <p:nvPr/>
        </p:nvSpPr>
        <p:spPr>
          <a:xfrm>
            <a:off x="1903412" y="1074225"/>
            <a:ext cx="7467600" cy="6124754"/>
          </a:xfrm>
          <a:prstGeom prst="rect">
            <a:avLst/>
          </a:prstGeom>
          <a:noFill/>
        </p:spPr>
        <p:txBody>
          <a:bodyPr wrap="square" rtlCol="0">
            <a:spAutoFit/>
          </a:bodyPr>
          <a:lstStyle/>
          <a:p>
            <a:pPr marL="342900" indent="-342900">
              <a:buFont typeface="Arial" panose="020B0604020202020204" pitchFamily="34" charset="0"/>
              <a:buChar char="•"/>
            </a:pPr>
            <a:r>
              <a:rPr lang="en-US" b="1" dirty="0"/>
              <a:t>Breakdown by Marital Status:</a:t>
            </a:r>
          </a:p>
          <a:p>
            <a:r>
              <a:rPr lang="en-US" b="1" dirty="0"/>
              <a:t>Living with Partner:</a:t>
            </a:r>
            <a:r>
              <a:rPr lang="en-US" dirty="0"/>
              <a:t> 58.1%</a:t>
            </a:r>
          </a:p>
          <a:p>
            <a:r>
              <a:rPr lang="en-US" b="1" dirty="0"/>
              <a:t>Separated/Divorced:</a:t>
            </a:r>
            <a:r>
              <a:rPr lang="en-US" dirty="0"/>
              <a:t> 62.3%</a:t>
            </a:r>
          </a:p>
          <a:p>
            <a:r>
              <a:rPr lang="en-US" b="1" dirty="0"/>
              <a:t>Single:</a:t>
            </a:r>
            <a:r>
              <a:rPr lang="en-US" dirty="0"/>
              <a:t> 57.7%</a:t>
            </a:r>
          </a:p>
          <a:p>
            <a:r>
              <a:rPr lang="en-US" b="1" dirty="0"/>
              <a:t>Widowed:</a:t>
            </a:r>
            <a:r>
              <a:rPr lang="en-US" dirty="0"/>
              <a:t> 55.0%</a:t>
            </a:r>
          </a:p>
          <a:p>
            <a:endParaRPr lang="en-US" dirty="0"/>
          </a:p>
          <a:p>
            <a:pPr marL="342900" indent="-342900">
              <a:buFont typeface="Arial" panose="020B0604020202020204" pitchFamily="34" charset="0"/>
              <a:buChar char="•"/>
            </a:pPr>
            <a:r>
              <a:rPr lang="en-US" b="1" dirty="0"/>
              <a:t>Breakdown by Education Level:</a:t>
            </a:r>
          </a:p>
          <a:p>
            <a:r>
              <a:rPr lang="en-US" b="1" dirty="0"/>
              <a:t>College:</a:t>
            </a:r>
            <a:r>
              <a:rPr lang="en-US" dirty="0"/>
              <a:t> 55.2%</a:t>
            </a:r>
          </a:p>
          <a:p>
            <a:r>
              <a:rPr lang="en-US" b="1" dirty="0"/>
              <a:t>Completed Primary:</a:t>
            </a:r>
            <a:r>
              <a:rPr lang="en-US" dirty="0"/>
              <a:t> 61.6%</a:t>
            </a:r>
          </a:p>
          <a:p>
            <a:r>
              <a:rPr lang="en-US" b="1" dirty="0"/>
              <a:t>Completed Secondary:</a:t>
            </a:r>
            <a:r>
              <a:rPr lang="en-US" dirty="0"/>
              <a:t> 59.8%</a:t>
            </a:r>
          </a:p>
          <a:p>
            <a:r>
              <a:rPr lang="en-US" b="1" dirty="0"/>
              <a:t>Less than Primary:</a:t>
            </a:r>
            <a:r>
              <a:rPr lang="en-US" dirty="0"/>
              <a:t> 70.5%</a:t>
            </a:r>
          </a:p>
          <a:p>
            <a:r>
              <a:rPr lang="en-US" b="1" dirty="0"/>
              <a:t>Post College:</a:t>
            </a:r>
            <a:r>
              <a:rPr lang="en-US" dirty="0"/>
              <a:t> 68.9%</a:t>
            </a:r>
          </a:p>
          <a:p>
            <a:r>
              <a:rPr lang="en-US" b="1" dirty="0"/>
              <a:t>Technical/Vocational:</a:t>
            </a:r>
            <a:r>
              <a:rPr lang="en-US" dirty="0"/>
              <a:t> 46.3%</a:t>
            </a:r>
          </a:p>
          <a:p>
            <a:endParaRPr lang="en-US" dirty="0"/>
          </a:p>
          <a:p>
            <a:br>
              <a:rPr lang="en-US" sz="2800" dirty="0"/>
            </a:br>
            <a:endParaRPr lang="en-US" sz="2800" dirty="0"/>
          </a:p>
        </p:txBody>
      </p:sp>
    </p:spTree>
    <p:extLst>
      <p:ext uri="{BB962C8B-B14F-4D97-AF65-F5344CB8AC3E}">
        <p14:creationId xmlns:p14="http://schemas.microsoft.com/office/powerpoint/2010/main" val="2156374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DEC50-48E2-ECEC-4B12-331ED16D49F7}"/>
              </a:ext>
            </a:extLst>
          </p:cNvPr>
          <p:cNvSpPr>
            <a:spLocks noGrp="1"/>
          </p:cNvSpPr>
          <p:nvPr>
            <p:ph type="title"/>
          </p:nvPr>
        </p:nvSpPr>
        <p:spPr>
          <a:xfrm>
            <a:off x="3579812" y="152400"/>
            <a:ext cx="5257800" cy="622300"/>
          </a:xfrm>
        </p:spPr>
        <p:txBody>
          <a:bodyPr/>
          <a:lstStyle/>
          <a:p>
            <a:pPr algn="ctr"/>
            <a:r>
              <a:rPr lang="en-US" dirty="0">
                <a:solidFill>
                  <a:srgbClr val="00B0F0"/>
                </a:solidFill>
              </a:rPr>
              <a:t>DV BY EDUCATIONAL LEVEL</a:t>
            </a:r>
          </a:p>
        </p:txBody>
      </p:sp>
      <p:pic>
        <p:nvPicPr>
          <p:cNvPr id="8" name="Picture Placeholder 7">
            <a:extLst>
              <a:ext uri="{FF2B5EF4-FFF2-40B4-BE49-F238E27FC236}">
                <a16:creationId xmlns:a16="http://schemas.microsoft.com/office/drawing/2014/main" id="{712A2AC2-CDCC-5551-84A7-859867C76648}"/>
              </a:ext>
            </a:extLst>
          </p:cNvPr>
          <p:cNvPicPr>
            <a:picLocks noGrp="1" noChangeAspect="1"/>
          </p:cNvPicPr>
          <p:nvPr>
            <p:ph type="pic" idx="1"/>
          </p:nvPr>
        </p:nvPicPr>
        <p:blipFill>
          <a:blip r:embed="rId2"/>
          <a:srcRect t="2488" b="2488"/>
          <a:stretch>
            <a:fillRect/>
          </a:stretch>
        </p:blipFill>
        <p:spPr>
          <a:xfrm>
            <a:off x="5027612" y="1143000"/>
            <a:ext cx="6858000" cy="4800600"/>
          </a:xfrm>
        </p:spPr>
      </p:pic>
      <p:sp>
        <p:nvSpPr>
          <p:cNvPr id="9" name="TextBox 8">
            <a:extLst>
              <a:ext uri="{FF2B5EF4-FFF2-40B4-BE49-F238E27FC236}">
                <a16:creationId xmlns:a16="http://schemas.microsoft.com/office/drawing/2014/main" id="{1B04CB99-C065-6BBF-BA60-31CFD9955473}"/>
              </a:ext>
            </a:extLst>
          </p:cNvPr>
          <p:cNvSpPr txBox="1"/>
          <p:nvPr/>
        </p:nvSpPr>
        <p:spPr>
          <a:xfrm>
            <a:off x="912812" y="927100"/>
            <a:ext cx="3962400" cy="6001643"/>
          </a:xfrm>
          <a:prstGeom prst="rect">
            <a:avLst/>
          </a:prstGeom>
          <a:noFill/>
        </p:spPr>
        <p:txBody>
          <a:bodyPr wrap="square" rtlCol="0">
            <a:spAutoFit/>
          </a:bodyPr>
          <a:lstStyle/>
          <a:p>
            <a:r>
              <a:rPr lang="en-US" dirty="0"/>
              <a:t>The data shows a varied prevalence of DV exposure based on education level. Women with less than primary education report the highest prevalence (70.5%), while those with a technical/vocational background report the lowest (46.3%). This suggests that education may be a factor influencing the likelihood of experiencing or knowing someone who has experienced domestic violence.</a:t>
            </a:r>
            <a:endParaRPr lang="en-US" sz="2800" dirty="0"/>
          </a:p>
        </p:txBody>
      </p:sp>
    </p:spTree>
    <p:extLst>
      <p:ext uri="{BB962C8B-B14F-4D97-AF65-F5344CB8AC3E}">
        <p14:creationId xmlns:p14="http://schemas.microsoft.com/office/powerpoint/2010/main" val="339050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93812" y="1676400"/>
            <a:ext cx="5078677" cy="4465320"/>
          </a:xfrm>
        </p:spPr>
        <p:txBody>
          <a:bodyPr>
            <a:normAutofit lnSpcReduction="10000"/>
          </a:bodyPr>
          <a:lstStyle/>
          <a:p>
            <a:r>
              <a:rPr lang="en-US" b="1" dirty="0"/>
              <a:t>Mean Unsafe Score:</a:t>
            </a:r>
          </a:p>
          <a:p>
            <a:r>
              <a:rPr lang="en-US" dirty="0"/>
              <a:t>DV Exposure: 0.450</a:t>
            </a:r>
          </a:p>
          <a:p>
            <a:r>
              <a:rPr lang="en-US" dirty="0"/>
              <a:t>No DV Exposure: 0.326</a:t>
            </a:r>
          </a:p>
          <a:p>
            <a:r>
              <a:rPr lang="en-US" b="1" dirty="0"/>
              <a:t>Difference:</a:t>
            </a:r>
            <a:r>
              <a:rPr lang="en-US" dirty="0"/>
              <a:t> 0.124 (p &lt; 2.2e-16)</a:t>
            </a:r>
          </a:p>
          <a:p>
            <a:r>
              <a:rPr lang="en-US" b="1" dirty="0"/>
              <a:t>Effect Size:</a:t>
            </a:r>
            <a:r>
              <a:rPr lang="en-US" dirty="0"/>
              <a:t> Hedges' g = -0.61 (medium effect)</a:t>
            </a:r>
          </a:p>
          <a:p>
            <a:r>
              <a:rPr lang="en-US" b="1" dirty="0"/>
              <a:t>Conclusion:</a:t>
            </a:r>
            <a:r>
              <a:rPr lang="en-US" dirty="0"/>
              <a:t> Women exposed to DV report significantly higher feelings of unsafety.</a:t>
            </a:r>
          </a:p>
          <a:p>
            <a:endParaRPr lang="en-US" dirty="0"/>
          </a:p>
        </p:txBody>
      </p:sp>
      <p:graphicFrame>
        <p:nvGraphicFramePr>
          <p:cNvPr id="5" name="Content Placeholder 4" descr="Staggered process showing 3 tasks arranged one below the other and two downward pointing arrows are used to indicate progression from first task to second task and second task to third task."/>
          <p:cNvGraphicFramePr>
            <a:graphicFrameLocks noGrp="1"/>
          </p:cNvGraphicFramePr>
          <p:nvPr>
            <p:ph sz="half" idx="2"/>
            <p:extLst>
              <p:ext uri="{D42A27DB-BD31-4B8C-83A1-F6EECF244321}">
                <p14:modId xmlns:p14="http://schemas.microsoft.com/office/powerpoint/2010/main" val="2056582069"/>
              </p:ext>
            </p:extLst>
          </p:nvPr>
        </p:nvGraphicFramePr>
        <p:xfrm>
          <a:off x="2284412" y="304800"/>
          <a:ext cx="7708848" cy="121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318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39920-FE6C-EFC2-80DB-201FFE3F3AF3}"/>
              </a:ext>
            </a:extLst>
          </p:cNvPr>
          <p:cNvSpPr>
            <a:spLocks noGrp="1"/>
          </p:cNvSpPr>
          <p:nvPr>
            <p:ph type="title"/>
          </p:nvPr>
        </p:nvSpPr>
        <p:spPr>
          <a:xfrm>
            <a:off x="1320456" y="279400"/>
            <a:ext cx="10360501" cy="812800"/>
          </a:xfrm>
        </p:spPr>
        <p:txBody>
          <a:bodyPr/>
          <a:lstStyle/>
          <a:p>
            <a:r>
              <a:rPr lang="en-US" dirty="0">
                <a:solidFill>
                  <a:srgbClr val="00B0F0"/>
                </a:solidFill>
              </a:rPr>
              <a:t>DOMESTIC VIOLENCE ON SAFETY PERCEPTION</a:t>
            </a:r>
          </a:p>
        </p:txBody>
      </p:sp>
      <p:pic>
        <p:nvPicPr>
          <p:cNvPr id="6" name="Content Placeholder 5">
            <a:extLst>
              <a:ext uri="{FF2B5EF4-FFF2-40B4-BE49-F238E27FC236}">
                <a16:creationId xmlns:a16="http://schemas.microsoft.com/office/drawing/2014/main" id="{4F061F9E-F94D-1502-72BE-9662A6F40688}"/>
              </a:ext>
            </a:extLst>
          </p:cNvPr>
          <p:cNvPicPr>
            <a:picLocks noGrp="1" noChangeAspect="1"/>
          </p:cNvPicPr>
          <p:nvPr>
            <p:ph sz="half" idx="2"/>
          </p:nvPr>
        </p:nvPicPr>
        <p:blipFill>
          <a:blip r:embed="rId2"/>
          <a:stretch>
            <a:fillRect/>
          </a:stretch>
        </p:blipFill>
        <p:spPr>
          <a:xfrm>
            <a:off x="2513012" y="1796750"/>
            <a:ext cx="6858000" cy="4224937"/>
          </a:xfrm>
        </p:spPr>
      </p:pic>
    </p:spTree>
    <p:extLst>
      <p:ext uri="{BB962C8B-B14F-4D97-AF65-F5344CB8AC3E}">
        <p14:creationId xmlns:p14="http://schemas.microsoft.com/office/powerpoint/2010/main" val="2889387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25177" y="228601"/>
            <a:ext cx="8938472" cy="914399"/>
          </a:xfrm>
        </p:spPr>
        <p:txBody>
          <a:bodyPr>
            <a:normAutofit fontScale="90000"/>
          </a:bodyPr>
          <a:lstStyle/>
          <a:p>
            <a:br>
              <a:rPr lang="en-US" b="1" dirty="0"/>
            </a:br>
            <a:endParaRPr lang="en-US" dirty="0"/>
          </a:p>
        </p:txBody>
      </p:sp>
      <p:sp>
        <p:nvSpPr>
          <p:cNvPr id="5" name="Text Placeholder 4"/>
          <p:cNvSpPr>
            <a:spLocks noGrp="1"/>
          </p:cNvSpPr>
          <p:nvPr>
            <p:ph type="body" idx="1"/>
          </p:nvPr>
        </p:nvSpPr>
        <p:spPr>
          <a:xfrm>
            <a:off x="2559652" y="304800"/>
            <a:ext cx="7069519" cy="1220933"/>
          </a:xfrm>
        </p:spPr>
        <p:txBody>
          <a:bodyPr/>
          <a:lstStyle/>
          <a:p>
            <a:r>
              <a:rPr lang="en-US" b="1" dirty="0">
                <a:solidFill>
                  <a:srgbClr val="00B0F0"/>
                </a:solidFill>
              </a:rPr>
              <a:t>Types of Domestic Violence and Their Effects</a:t>
            </a:r>
          </a:p>
          <a:p>
            <a:endParaRPr lang="en-US" dirty="0"/>
          </a:p>
        </p:txBody>
      </p:sp>
      <p:sp>
        <p:nvSpPr>
          <p:cNvPr id="8" name="TextBox 7">
            <a:extLst>
              <a:ext uri="{FF2B5EF4-FFF2-40B4-BE49-F238E27FC236}">
                <a16:creationId xmlns:a16="http://schemas.microsoft.com/office/drawing/2014/main" id="{DCC2081F-F9F4-01FF-EEDE-6B88A13773A9}"/>
              </a:ext>
            </a:extLst>
          </p:cNvPr>
          <p:cNvSpPr txBox="1"/>
          <p:nvPr/>
        </p:nvSpPr>
        <p:spPr>
          <a:xfrm>
            <a:off x="1620044" y="1601932"/>
            <a:ext cx="7522368" cy="4585871"/>
          </a:xfrm>
          <a:prstGeom prst="rect">
            <a:avLst/>
          </a:prstGeom>
          <a:noFill/>
        </p:spPr>
        <p:txBody>
          <a:bodyPr wrap="square" rtlCol="0">
            <a:spAutoFit/>
          </a:bodyPr>
          <a:lstStyle/>
          <a:p>
            <a:pPr marL="342900" indent="-342900">
              <a:buFont typeface="Arial" panose="020B0604020202020204" pitchFamily="34" charset="0"/>
              <a:buChar char="•"/>
            </a:pPr>
            <a:r>
              <a:rPr lang="en-US" b="1" dirty="0"/>
              <a:t>MANOVA Results:</a:t>
            </a:r>
          </a:p>
          <a:p>
            <a:r>
              <a:rPr lang="en-US" dirty="0"/>
              <a:t>Significant differences in Unsafe and Well-Being   Scores based on DV type (p &lt; 2.2e-16).</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b="1" dirty="0"/>
              <a:t>Post-hoc Tests:</a:t>
            </a:r>
          </a:p>
          <a:p>
            <a:r>
              <a:rPr lang="en-US" dirty="0"/>
              <a:t>Pairwise comparisons reveal significant differences between various types of DV (e.g., Physical vs. Verbal).</a:t>
            </a:r>
          </a:p>
          <a:p>
            <a:endParaRPr lang="en-US" dirty="0"/>
          </a:p>
          <a:p>
            <a:pPr marL="342900" indent="-342900">
              <a:buFont typeface="Arial" panose="020B0604020202020204" pitchFamily="34" charset="0"/>
              <a:buChar char="•"/>
            </a:pPr>
            <a:r>
              <a:rPr lang="en-US" b="1" dirty="0"/>
              <a:t>Conclusion:</a:t>
            </a:r>
            <a:r>
              <a:rPr lang="en-US" dirty="0"/>
              <a:t> </a:t>
            </a:r>
          </a:p>
          <a:p>
            <a:r>
              <a:rPr lang="en-US" dirty="0"/>
              <a:t>Different types of DV have differential impacts on safety and well-being.</a:t>
            </a:r>
          </a:p>
          <a:p>
            <a:pPr marL="457200"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426497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AAE49B-27EB-C9DC-42E9-3EEC250FD6AA}"/>
              </a:ext>
            </a:extLst>
          </p:cNvPr>
          <p:cNvSpPr txBox="1"/>
          <p:nvPr/>
        </p:nvSpPr>
        <p:spPr>
          <a:xfrm>
            <a:off x="3503612" y="304800"/>
            <a:ext cx="5410200" cy="954107"/>
          </a:xfrm>
          <a:prstGeom prst="rect">
            <a:avLst/>
          </a:prstGeom>
          <a:noFill/>
        </p:spPr>
        <p:txBody>
          <a:bodyPr wrap="square" rtlCol="0">
            <a:spAutoFit/>
          </a:bodyPr>
          <a:lstStyle/>
          <a:p>
            <a:pPr algn="ctr"/>
            <a:r>
              <a:rPr lang="en-US" sz="2800" dirty="0">
                <a:solidFill>
                  <a:srgbClr val="00B0F0"/>
                </a:solidFill>
              </a:rPr>
              <a:t>WELL-BEING SCORES BY TYPE OF DOMESTIC VIOLENCE</a:t>
            </a:r>
          </a:p>
        </p:txBody>
      </p:sp>
      <p:pic>
        <p:nvPicPr>
          <p:cNvPr id="11" name="Picture Placeholder 10">
            <a:extLst>
              <a:ext uri="{FF2B5EF4-FFF2-40B4-BE49-F238E27FC236}">
                <a16:creationId xmlns:a16="http://schemas.microsoft.com/office/drawing/2014/main" id="{395F6D98-26FD-B3C8-2DC6-3DE44D0018C3}"/>
              </a:ext>
            </a:extLst>
          </p:cNvPr>
          <p:cNvPicPr>
            <a:picLocks noGrp="1" noChangeAspect="1"/>
          </p:cNvPicPr>
          <p:nvPr>
            <p:ph type="pic" idx="1"/>
          </p:nvPr>
        </p:nvPicPr>
        <p:blipFill>
          <a:blip r:embed="rId2"/>
          <a:srcRect l="1626" r="1626"/>
          <a:stretch>
            <a:fillRect/>
          </a:stretch>
        </p:blipFill>
        <p:spPr>
          <a:xfrm>
            <a:off x="1979612" y="1447800"/>
            <a:ext cx="8763000" cy="4724400"/>
          </a:xfrm>
        </p:spPr>
      </p:pic>
    </p:spTree>
    <p:extLst>
      <p:ext uri="{BB962C8B-B14F-4D97-AF65-F5344CB8AC3E}">
        <p14:creationId xmlns:p14="http://schemas.microsoft.com/office/powerpoint/2010/main" val="3125580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218883" y="304800"/>
            <a:ext cx="10360501" cy="1193800"/>
          </a:xfrm>
        </p:spPr>
        <p:txBody>
          <a:bodyPr/>
          <a:lstStyle/>
          <a:p>
            <a:pPr algn="ctr"/>
            <a:br>
              <a:rPr lang="en-US" b="1" dirty="0"/>
            </a:br>
            <a:endParaRPr lang="en-US" dirty="0"/>
          </a:p>
        </p:txBody>
      </p:sp>
      <p:sp>
        <p:nvSpPr>
          <p:cNvPr id="2" name="TextBox 1">
            <a:extLst>
              <a:ext uri="{FF2B5EF4-FFF2-40B4-BE49-F238E27FC236}">
                <a16:creationId xmlns:a16="http://schemas.microsoft.com/office/drawing/2014/main" id="{7F2375C9-A1B5-D66B-485B-C304547E1C70}"/>
              </a:ext>
            </a:extLst>
          </p:cNvPr>
          <p:cNvSpPr txBox="1"/>
          <p:nvPr/>
        </p:nvSpPr>
        <p:spPr>
          <a:xfrm>
            <a:off x="4265612" y="640090"/>
            <a:ext cx="3657600" cy="830997"/>
          </a:xfrm>
          <a:prstGeom prst="rect">
            <a:avLst/>
          </a:prstGeom>
          <a:noFill/>
        </p:spPr>
        <p:txBody>
          <a:bodyPr wrap="square" rtlCol="0">
            <a:spAutoFit/>
          </a:bodyPr>
          <a:lstStyle/>
          <a:p>
            <a:r>
              <a:rPr lang="en-US" b="1" dirty="0">
                <a:solidFill>
                  <a:srgbClr val="00B0F0"/>
                </a:solidFill>
              </a:rPr>
              <a:t>Mediation Analysis</a:t>
            </a:r>
          </a:p>
          <a:p>
            <a:endParaRPr lang="en-US" b="1" dirty="0"/>
          </a:p>
        </p:txBody>
      </p:sp>
      <p:sp>
        <p:nvSpPr>
          <p:cNvPr id="3" name="TextBox 2">
            <a:extLst>
              <a:ext uri="{FF2B5EF4-FFF2-40B4-BE49-F238E27FC236}">
                <a16:creationId xmlns:a16="http://schemas.microsoft.com/office/drawing/2014/main" id="{E2AC969B-DE10-A0EE-E921-B7DEDB6B97E1}"/>
              </a:ext>
            </a:extLst>
          </p:cNvPr>
          <p:cNvSpPr txBox="1"/>
          <p:nvPr/>
        </p:nvSpPr>
        <p:spPr>
          <a:xfrm>
            <a:off x="2665451" y="1471087"/>
            <a:ext cx="6857921" cy="4154984"/>
          </a:xfrm>
          <a:prstGeom prst="rect">
            <a:avLst/>
          </a:prstGeom>
          <a:noFill/>
        </p:spPr>
        <p:txBody>
          <a:bodyPr wrap="square" rtlCol="0">
            <a:spAutoFit/>
          </a:bodyPr>
          <a:lstStyle/>
          <a:p>
            <a:pPr marL="342900" indent="-342900">
              <a:buFont typeface="Arial" panose="020B0604020202020204" pitchFamily="34" charset="0"/>
              <a:buChar char="•"/>
            </a:pPr>
            <a:r>
              <a:rPr lang="en-US" b="1" dirty="0"/>
              <a:t>Mediation Effect of Conflict Frequency:</a:t>
            </a:r>
          </a:p>
          <a:p>
            <a:r>
              <a:rPr lang="en-US" b="1" dirty="0"/>
              <a:t>     </a:t>
            </a:r>
            <a:r>
              <a:rPr lang="en-US" dirty="0"/>
              <a:t>Approximately 13% of the impact of DV exposure on safety perceptions is mediated by conflict frequency.</a:t>
            </a:r>
          </a:p>
          <a:p>
            <a:endParaRPr lang="en-US" dirty="0"/>
          </a:p>
          <a:p>
            <a:pPr marL="342900" indent="-342900">
              <a:buFont typeface="Arial" panose="020B0604020202020204" pitchFamily="34" charset="0"/>
              <a:buChar char="•"/>
            </a:pPr>
            <a:r>
              <a:rPr lang="en-US" b="1" dirty="0"/>
              <a:t>Direct Effect:</a:t>
            </a:r>
            <a:r>
              <a:rPr lang="en-US" dirty="0"/>
              <a:t> 87% of the impact is direct.</a:t>
            </a:r>
          </a:p>
          <a:p>
            <a:endParaRPr lang="en-US" dirty="0"/>
          </a:p>
          <a:p>
            <a:pPr marL="342900" indent="-342900">
              <a:buFont typeface="Arial" panose="020B0604020202020204" pitchFamily="34" charset="0"/>
              <a:buChar char="•"/>
            </a:pPr>
            <a:r>
              <a:rPr lang="en-US" b="1" dirty="0"/>
              <a:t>Conclusion:</a:t>
            </a:r>
            <a:r>
              <a:rPr lang="en-US" dirty="0"/>
              <a:t> </a:t>
            </a:r>
          </a:p>
          <a:p>
            <a:r>
              <a:rPr lang="en-US" dirty="0"/>
              <a:t>Conflict frequency plays a significant role in the relationship between DV exposure and feelings of safety.</a:t>
            </a:r>
          </a:p>
        </p:txBody>
      </p:sp>
    </p:spTree>
    <p:extLst>
      <p:ext uri="{BB962C8B-B14F-4D97-AF65-F5344CB8AC3E}">
        <p14:creationId xmlns:p14="http://schemas.microsoft.com/office/powerpoint/2010/main" val="267203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4C418-ABD3-69A3-1678-844FB4176F54}"/>
              </a:ext>
            </a:extLst>
          </p:cNvPr>
          <p:cNvSpPr>
            <a:spLocks noGrp="1"/>
          </p:cNvSpPr>
          <p:nvPr>
            <p:ph type="title"/>
          </p:nvPr>
        </p:nvSpPr>
        <p:spPr/>
        <p:txBody>
          <a:bodyPr/>
          <a:lstStyle/>
          <a:p>
            <a:r>
              <a:rPr lang="en-US" dirty="0">
                <a:solidFill>
                  <a:srgbClr val="00B0F0"/>
                </a:solidFill>
              </a:rPr>
              <a:t>CONFLICT FREQUENCE BY DOMESTIC VIOLENCE   </a:t>
            </a:r>
            <a:br>
              <a:rPr lang="en-US" dirty="0">
                <a:solidFill>
                  <a:srgbClr val="00B0F0"/>
                </a:solidFill>
              </a:rPr>
            </a:br>
            <a:r>
              <a:rPr lang="en-US" dirty="0">
                <a:solidFill>
                  <a:srgbClr val="00B0F0"/>
                </a:solidFill>
              </a:rPr>
              <a:t>                                  EXPOSURE</a:t>
            </a:r>
          </a:p>
        </p:txBody>
      </p:sp>
      <p:pic>
        <p:nvPicPr>
          <p:cNvPr id="8" name="Content Placeholder 7">
            <a:extLst>
              <a:ext uri="{FF2B5EF4-FFF2-40B4-BE49-F238E27FC236}">
                <a16:creationId xmlns:a16="http://schemas.microsoft.com/office/drawing/2014/main" id="{B83A9E16-CB23-A6B3-4D40-EA60783C34B1}"/>
              </a:ext>
            </a:extLst>
          </p:cNvPr>
          <p:cNvPicPr>
            <a:picLocks noGrp="1" noChangeAspect="1"/>
          </p:cNvPicPr>
          <p:nvPr>
            <p:ph sz="quarter" idx="4"/>
          </p:nvPr>
        </p:nvPicPr>
        <p:blipFill>
          <a:blip r:embed="rId2"/>
          <a:stretch>
            <a:fillRect/>
          </a:stretch>
        </p:blipFill>
        <p:spPr>
          <a:xfrm>
            <a:off x="1903412" y="1676400"/>
            <a:ext cx="8305800" cy="4495800"/>
          </a:xfrm>
        </p:spPr>
      </p:pic>
    </p:spTree>
    <p:extLst>
      <p:ext uri="{BB962C8B-B14F-4D97-AF65-F5344CB8AC3E}">
        <p14:creationId xmlns:p14="http://schemas.microsoft.com/office/powerpoint/2010/main" val="1195155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79812" y="457201"/>
            <a:ext cx="4572000" cy="1066800"/>
          </a:xfrm>
        </p:spPr>
        <p:txBody>
          <a:bodyPr>
            <a:normAutofit fontScale="90000"/>
          </a:bodyPr>
          <a:lstStyle/>
          <a:p>
            <a:r>
              <a:rPr lang="en-US" b="1" dirty="0">
                <a:solidFill>
                  <a:srgbClr val="00B0F0"/>
                </a:solidFill>
              </a:rPr>
              <a:t>Moderation Analysis</a:t>
            </a:r>
            <a:br>
              <a:rPr lang="en-US" b="1" dirty="0"/>
            </a:br>
            <a:endParaRPr lang="en-US" dirty="0"/>
          </a:p>
        </p:txBody>
      </p:sp>
      <p:sp>
        <p:nvSpPr>
          <p:cNvPr id="2" name="TextBox 1">
            <a:extLst>
              <a:ext uri="{FF2B5EF4-FFF2-40B4-BE49-F238E27FC236}">
                <a16:creationId xmlns:a16="http://schemas.microsoft.com/office/drawing/2014/main" id="{287141AE-C3E4-B615-A82E-986A3F062AC8}"/>
              </a:ext>
            </a:extLst>
          </p:cNvPr>
          <p:cNvSpPr txBox="1"/>
          <p:nvPr/>
        </p:nvSpPr>
        <p:spPr>
          <a:xfrm>
            <a:off x="2055812" y="1676400"/>
            <a:ext cx="4572000" cy="4524315"/>
          </a:xfrm>
          <a:prstGeom prst="rect">
            <a:avLst/>
          </a:prstGeom>
          <a:noFill/>
        </p:spPr>
        <p:txBody>
          <a:bodyPr wrap="square" rtlCol="0">
            <a:spAutoFit/>
          </a:bodyPr>
          <a:lstStyle/>
          <a:p>
            <a:pPr marL="342900" indent="-342900">
              <a:buFont typeface="Arial" panose="020B0604020202020204" pitchFamily="34" charset="0"/>
              <a:buChar char="•"/>
            </a:pPr>
            <a:r>
              <a:rPr lang="en-US" b="1" dirty="0"/>
              <a:t>Help-Seeking Behavior:</a:t>
            </a:r>
          </a:p>
          <a:p>
            <a:r>
              <a:rPr lang="en-US" dirty="0"/>
              <a:t>Logistic regression indicates no significant moderation effect of help type on safety perceptions.</a:t>
            </a:r>
          </a:p>
          <a:p>
            <a:r>
              <a:rPr lang="en-US" dirty="0"/>
              <a:t>Linear regression shows a slight negative effect of informal help on mobility (p = 0.00834).</a:t>
            </a:r>
          </a:p>
          <a:p>
            <a:endParaRPr lang="en-US" dirty="0"/>
          </a:p>
          <a:p>
            <a:pPr marL="342900" indent="-342900">
              <a:buFont typeface="Arial" panose="020B0604020202020204" pitchFamily="34" charset="0"/>
              <a:buChar char="•"/>
            </a:pPr>
            <a:r>
              <a:rPr lang="en-US" b="1" dirty="0"/>
              <a:t>Conclusion:</a:t>
            </a:r>
            <a:r>
              <a:rPr lang="en-US" dirty="0"/>
              <a:t> </a:t>
            </a:r>
          </a:p>
          <a:p>
            <a:r>
              <a:rPr lang="en-US" dirty="0"/>
              <a:t>Seeking help does not significantly moderate the effects of DV on safety perceptions.</a:t>
            </a:r>
          </a:p>
        </p:txBody>
      </p:sp>
    </p:spTree>
    <p:extLst>
      <p:ext uri="{BB962C8B-B14F-4D97-AF65-F5344CB8AC3E}">
        <p14:creationId xmlns:p14="http://schemas.microsoft.com/office/powerpoint/2010/main" val="397710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3F6C7-DC2D-9C90-4FB3-148ECEEEF217}"/>
              </a:ext>
            </a:extLst>
          </p:cNvPr>
          <p:cNvSpPr>
            <a:spLocks noGrp="1"/>
          </p:cNvSpPr>
          <p:nvPr>
            <p:ph type="title"/>
          </p:nvPr>
        </p:nvSpPr>
        <p:spPr/>
        <p:txBody>
          <a:bodyPr/>
          <a:lstStyle/>
          <a:p>
            <a:r>
              <a:rPr lang="en-US" dirty="0">
                <a:solidFill>
                  <a:srgbClr val="00B0F0"/>
                </a:solidFill>
              </a:rPr>
              <a:t>HELP-SEEKING BEHAVOR BY DOMESTIC VIOLENCE </a:t>
            </a:r>
            <a:br>
              <a:rPr lang="en-US" dirty="0">
                <a:solidFill>
                  <a:srgbClr val="00B0F0"/>
                </a:solidFill>
              </a:rPr>
            </a:br>
            <a:r>
              <a:rPr lang="en-US" dirty="0">
                <a:solidFill>
                  <a:srgbClr val="00B0F0"/>
                </a:solidFill>
              </a:rPr>
              <a:t>                                     EXPOSURE</a:t>
            </a:r>
          </a:p>
        </p:txBody>
      </p:sp>
      <p:pic>
        <p:nvPicPr>
          <p:cNvPr id="6" name="Content Placeholder 5">
            <a:extLst>
              <a:ext uri="{FF2B5EF4-FFF2-40B4-BE49-F238E27FC236}">
                <a16:creationId xmlns:a16="http://schemas.microsoft.com/office/drawing/2014/main" id="{EE709120-B328-0CB2-3C06-5FB6807CF6BA}"/>
              </a:ext>
            </a:extLst>
          </p:cNvPr>
          <p:cNvPicPr>
            <a:picLocks noGrp="1" noChangeAspect="1"/>
          </p:cNvPicPr>
          <p:nvPr>
            <p:ph idx="1"/>
          </p:nvPr>
        </p:nvPicPr>
        <p:blipFill>
          <a:blip r:embed="rId2"/>
          <a:stretch>
            <a:fillRect/>
          </a:stretch>
        </p:blipFill>
        <p:spPr>
          <a:xfrm>
            <a:off x="1370012" y="1701800"/>
            <a:ext cx="9220200" cy="4622800"/>
          </a:xfrm>
        </p:spPr>
      </p:pic>
    </p:spTree>
    <p:extLst>
      <p:ext uri="{BB962C8B-B14F-4D97-AF65-F5344CB8AC3E}">
        <p14:creationId xmlns:p14="http://schemas.microsoft.com/office/powerpoint/2010/main" val="276178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180706-057C-277F-2AFE-B7722C13300C}"/>
              </a:ext>
            </a:extLst>
          </p:cNvPr>
          <p:cNvSpPr txBox="1"/>
          <p:nvPr/>
        </p:nvSpPr>
        <p:spPr>
          <a:xfrm>
            <a:off x="3389312" y="152400"/>
            <a:ext cx="5410200" cy="461665"/>
          </a:xfrm>
          <a:prstGeom prst="rect">
            <a:avLst/>
          </a:prstGeom>
          <a:noFill/>
        </p:spPr>
        <p:txBody>
          <a:bodyPr wrap="square" rtlCol="0">
            <a:spAutoFit/>
          </a:bodyPr>
          <a:lstStyle/>
          <a:p>
            <a:r>
              <a:rPr lang="en-US" b="1" dirty="0">
                <a:solidFill>
                  <a:srgbClr val="00B0F0"/>
                </a:solidFill>
              </a:rPr>
              <a:t>Disability Status and Domestic Violence</a:t>
            </a:r>
          </a:p>
        </p:txBody>
      </p:sp>
      <p:sp>
        <p:nvSpPr>
          <p:cNvPr id="3" name="TextBox 2">
            <a:extLst>
              <a:ext uri="{FF2B5EF4-FFF2-40B4-BE49-F238E27FC236}">
                <a16:creationId xmlns:a16="http://schemas.microsoft.com/office/drawing/2014/main" id="{D0E8A6FD-552A-CB33-89C9-4C9E6E26AD7F}"/>
              </a:ext>
            </a:extLst>
          </p:cNvPr>
          <p:cNvSpPr txBox="1"/>
          <p:nvPr/>
        </p:nvSpPr>
        <p:spPr>
          <a:xfrm>
            <a:off x="1827212" y="794802"/>
            <a:ext cx="6477000" cy="6063198"/>
          </a:xfrm>
          <a:prstGeom prst="rect">
            <a:avLst/>
          </a:prstGeom>
          <a:noFill/>
        </p:spPr>
        <p:txBody>
          <a:bodyPr wrap="square" rtlCol="0">
            <a:spAutoFit/>
          </a:bodyPr>
          <a:lstStyle/>
          <a:p>
            <a:pPr marL="342900" indent="-342900">
              <a:buFont typeface="Arial" panose="020B0604020202020204" pitchFamily="34" charset="0"/>
              <a:buChar char="•"/>
            </a:pPr>
            <a:r>
              <a:rPr lang="en-US" b="1" dirty="0"/>
              <a:t>Chi-Squared Test Results:</a:t>
            </a:r>
          </a:p>
          <a:p>
            <a:r>
              <a:rPr lang="en-US" dirty="0"/>
              <a:t>Significant association between disability status and DV exposure (p = 3.468e-05).</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b="1" dirty="0"/>
              <a:t>Logistic Regression:</a:t>
            </a:r>
          </a:p>
          <a:p>
            <a:r>
              <a:rPr lang="en-US" dirty="0"/>
              <a:t>Odds Ratio for disability status: 1.197 (95% CI: [1.106, 1.296]).</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b="1" dirty="0"/>
              <a:t>Well-Being Scores:</a:t>
            </a:r>
          </a:p>
          <a:p>
            <a:r>
              <a:rPr lang="en-US" dirty="0"/>
              <a:t>Non-disabled: Mean = 0.643</a:t>
            </a:r>
          </a:p>
          <a:p>
            <a:r>
              <a:rPr lang="en-US" dirty="0"/>
              <a:t>Disabled: Mean = 0.546</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b="1" dirty="0"/>
              <a:t>Conclusion:</a:t>
            </a:r>
            <a:r>
              <a:rPr lang="en-US" dirty="0"/>
              <a:t> </a:t>
            </a:r>
          </a:p>
          <a:p>
            <a:r>
              <a:rPr lang="en-US" dirty="0"/>
              <a:t>Women with disabilities are at higher risk for DV and report lower well-being scores.</a:t>
            </a:r>
            <a:br>
              <a:rPr lang="en-US" sz="2800" dirty="0"/>
            </a:br>
            <a:endParaRPr lang="en-US" sz="2800" dirty="0"/>
          </a:p>
        </p:txBody>
      </p:sp>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4539E-BD3D-C825-B832-D5056F75DF50}"/>
              </a:ext>
            </a:extLst>
          </p:cNvPr>
          <p:cNvSpPr>
            <a:spLocks noGrp="1"/>
          </p:cNvSpPr>
          <p:nvPr>
            <p:ph type="title"/>
          </p:nvPr>
        </p:nvSpPr>
        <p:spPr>
          <a:xfrm>
            <a:off x="1280120" y="152400"/>
            <a:ext cx="8458200" cy="736600"/>
          </a:xfrm>
        </p:spPr>
        <p:txBody>
          <a:bodyPr>
            <a:normAutofit/>
          </a:bodyPr>
          <a:lstStyle/>
          <a:p>
            <a:pPr algn="ctr"/>
            <a:r>
              <a:rPr lang="en-US" dirty="0">
                <a:solidFill>
                  <a:srgbClr val="00B0F0"/>
                </a:solidFill>
              </a:rPr>
              <a:t>WELL-BEING SCORES BY DISABILITY STATUS</a:t>
            </a:r>
          </a:p>
        </p:txBody>
      </p:sp>
      <p:pic>
        <p:nvPicPr>
          <p:cNvPr id="6" name="Picture Placeholder 5">
            <a:extLst>
              <a:ext uri="{FF2B5EF4-FFF2-40B4-BE49-F238E27FC236}">
                <a16:creationId xmlns:a16="http://schemas.microsoft.com/office/drawing/2014/main" id="{C51FAB14-5051-5615-DC58-DBC64E36835D}"/>
              </a:ext>
            </a:extLst>
          </p:cNvPr>
          <p:cNvPicPr>
            <a:picLocks noGrp="1" noChangeAspect="1"/>
          </p:cNvPicPr>
          <p:nvPr>
            <p:ph type="pic" idx="1"/>
          </p:nvPr>
        </p:nvPicPr>
        <p:blipFill>
          <a:blip r:embed="rId2"/>
          <a:srcRect t="960" b="960"/>
          <a:stretch>
            <a:fillRect/>
          </a:stretch>
        </p:blipFill>
        <p:spPr>
          <a:xfrm>
            <a:off x="2360612" y="1295400"/>
            <a:ext cx="7618413" cy="4267200"/>
          </a:xfrm>
        </p:spPr>
      </p:pic>
    </p:spTree>
    <p:extLst>
      <p:ext uri="{BB962C8B-B14F-4D97-AF65-F5344CB8AC3E}">
        <p14:creationId xmlns:p14="http://schemas.microsoft.com/office/powerpoint/2010/main" val="3900158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C0B2-2F56-1DD5-F524-0C486C7F8F7C}"/>
              </a:ext>
            </a:extLst>
          </p:cNvPr>
          <p:cNvSpPr>
            <a:spLocks noGrp="1"/>
          </p:cNvSpPr>
          <p:nvPr>
            <p:ph type="title"/>
          </p:nvPr>
        </p:nvSpPr>
        <p:spPr>
          <a:xfrm>
            <a:off x="1789271" y="304800"/>
            <a:ext cx="7391400" cy="596900"/>
          </a:xfrm>
        </p:spPr>
        <p:txBody>
          <a:bodyPr/>
          <a:lstStyle/>
          <a:p>
            <a:pPr algn="ctr"/>
            <a:r>
              <a:rPr lang="en-US" dirty="0"/>
              <a:t>DV EXPOSURE BY DISABILITY STATUS</a:t>
            </a:r>
          </a:p>
        </p:txBody>
      </p:sp>
      <p:pic>
        <p:nvPicPr>
          <p:cNvPr id="6" name="Picture Placeholder 5">
            <a:extLst>
              <a:ext uri="{FF2B5EF4-FFF2-40B4-BE49-F238E27FC236}">
                <a16:creationId xmlns:a16="http://schemas.microsoft.com/office/drawing/2014/main" id="{0A4A4419-1EB9-6BE3-4272-95961B300BD8}"/>
              </a:ext>
            </a:extLst>
          </p:cNvPr>
          <p:cNvPicPr>
            <a:picLocks noGrp="1" noChangeAspect="1"/>
          </p:cNvPicPr>
          <p:nvPr>
            <p:ph type="pic" idx="1"/>
          </p:nvPr>
        </p:nvPicPr>
        <p:blipFill>
          <a:blip r:embed="rId2"/>
          <a:srcRect t="8841" b="8841"/>
          <a:stretch>
            <a:fillRect/>
          </a:stretch>
        </p:blipFill>
        <p:spPr>
          <a:xfrm>
            <a:off x="2208212" y="1638300"/>
            <a:ext cx="7162800" cy="4305300"/>
          </a:xfrm>
        </p:spPr>
      </p:pic>
    </p:spTree>
    <p:extLst>
      <p:ext uri="{BB962C8B-B14F-4D97-AF65-F5344CB8AC3E}">
        <p14:creationId xmlns:p14="http://schemas.microsoft.com/office/powerpoint/2010/main" val="664677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C0299E8B-0A2E-07A5-933E-D28AFE4D9FAE}"/>
              </a:ext>
            </a:extLst>
          </p:cNvPr>
          <p:cNvPicPr>
            <a:picLocks noGrp="1" noChangeAspect="1"/>
          </p:cNvPicPr>
          <p:nvPr>
            <p:ph type="pic" idx="1"/>
          </p:nvPr>
        </p:nvPicPr>
        <p:blipFill>
          <a:blip r:embed="rId2"/>
          <a:srcRect t="7966" b="7966"/>
          <a:stretch>
            <a:fillRect/>
          </a:stretch>
        </p:blipFill>
        <p:spPr>
          <a:xfrm>
            <a:off x="2208212" y="1219200"/>
            <a:ext cx="7924800" cy="4419600"/>
          </a:xfrm>
        </p:spPr>
      </p:pic>
      <p:sp>
        <p:nvSpPr>
          <p:cNvPr id="4" name="Text Placeholder 3">
            <a:extLst>
              <a:ext uri="{FF2B5EF4-FFF2-40B4-BE49-F238E27FC236}">
                <a16:creationId xmlns:a16="http://schemas.microsoft.com/office/drawing/2014/main" id="{CA8FFD19-4F72-FB57-C90A-DAA747697DD1}"/>
              </a:ext>
            </a:extLst>
          </p:cNvPr>
          <p:cNvSpPr>
            <a:spLocks noGrp="1"/>
          </p:cNvSpPr>
          <p:nvPr>
            <p:ph type="body" sz="half" idx="2"/>
          </p:nvPr>
        </p:nvSpPr>
        <p:spPr>
          <a:xfrm>
            <a:off x="2857657" y="152400"/>
            <a:ext cx="6094414" cy="838200"/>
          </a:xfrm>
        </p:spPr>
        <p:txBody>
          <a:bodyPr>
            <a:normAutofit fontScale="92500" lnSpcReduction="10000"/>
          </a:bodyPr>
          <a:lstStyle/>
          <a:p>
            <a:r>
              <a:rPr lang="en-US" dirty="0"/>
              <a:t>                </a:t>
            </a:r>
            <a:r>
              <a:rPr lang="en-US" dirty="0">
                <a:solidFill>
                  <a:srgbClr val="00B0F0"/>
                </a:solidFill>
              </a:rPr>
              <a:t>DISABILITY STATUS: DV RISK AND WELL-BEING        </a:t>
            </a:r>
          </a:p>
          <a:p>
            <a:r>
              <a:rPr lang="en-US" dirty="0"/>
              <a:t>                   </a:t>
            </a:r>
          </a:p>
        </p:txBody>
      </p:sp>
    </p:spTree>
    <p:extLst>
      <p:ext uri="{BB962C8B-B14F-4D97-AF65-F5344CB8AC3E}">
        <p14:creationId xmlns:p14="http://schemas.microsoft.com/office/powerpoint/2010/main" val="737346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779712" y="152400"/>
            <a:ext cx="6629400" cy="910856"/>
          </a:xfrm>
        </p:spPr>
        <p:txBody>
          <a:bodyPr/>
          <a:lstStyle/>
          <a:p>
            <a:r>
              <a:rPr lang="en-US" b="1" dirty="0"/>
              <a:t>                 </a:t>
            </a:r>
            <a:r>
              <a:rPr lang="en-US" b="1" dirty="0">
                <a:solidFill>
                  <a:srgbClr val="00B0F0"/>
                </a:solidFill>
              </a:rPr>
              <a:t>Food Insecurity and Mental Health Strain</a:t>
            </a:r>
            <a:endParaRPr lang="en-US" dirty="0">
              <a:solidFill>
                <a:srgbClr val="00B0F0"/>
              </a:solidFill>
            </a:endParaRPr>
          </a:p>
        </p:txBody>
      </p:sp>
      <p:sp>
        <p:nvSpPr>
          <p:cNvPr id="3" name="Content Placeholder 2"/>
          <p:cNvSpPr>
            <a:spLocks noGrp="1"/>
          </p:cNvSpPr>
          <p:nvPr>
            <p:ph idx="1"/>
          </p:nvPr>
        </p:nvSpPr>
        <p:spPr>
          <a:xfrm>
            <a:off x="2665412" y="1063256"/>
            <a:ext cx="7848600" cy="4089400"/>
          </a:xfrm>
        </p:spPr>
        <p:txBody>
          <a:bodyPr>
            <a:normAutofit fontScale="62500" lnSpcReduction="20000"/>
          </a:bodyPr>
          <a:lstStyle/>
          <a:p>
            <a:r>
              <a:rPr lang="en-US" b="1" dirty="0">
                <a:solidFill>
                  <a:srgbClr val="00B0F0"/>
                </a:solidFill>
              </a:rPr>
              <a:t>Higher Rates of Food Insecurity</a:t>
            </a:r>
            <a:r>
              <a:rPr lang="en-US" b="1" dirty="0"/>
              <a:t>:</a:t>
            </a:r>
            <a:endParaRPr lang="en-US" dirty="0"/>
          </a:p>
          <a:p>
            <a:r>
              <a:rPr lang="en-US" dirty="0"/>
              <a:t>Women who have experienced domestic violence report food insufficiency at rates of 35.7% for recent abuse and 26.5% for past abuse.</a:t>
            </a:r>
          </a:p>
          <a:p>
            <a:r>
              <a:rPr lang="en-US" dirty="0"/>
              <a:t>This indicates a clear link between domestic violence and food insecurity, suggesting that survivors face significant challenges in accessing adequate nutrition.</a:t>
            </a:r>
          </a:p>
          <a:p>
            <a:r>
              <a:rPr lang="en-US" b="1" dirty="0">
                <a:solidFill>
                  <a:srgbClr val="00B0F0"/>
                </a:solidFill>
              </a:rPr>
              <a:t>Impact on Mental Health</a:t>
            </a:r>
            <a:r>
              <a:rPr lang="en-US" b="1" dirty="0"/>
              <a:t>:</a:t>
            </a:r>
            <a:endParaRPr lang="en-US" dirty="0"/>
          </a:p>
          <a:p>
            <a:r>
              <a:rPr lang="en-US" dirty="0"/>
              <a:t>The stress associated with food insecurity can exacerbate mental health issues, leading to increased anxiety and depression among survivors of domestic violence.</a:t>
            </a:r>
          </a:p>
          <a:p>
            <a:r>
              <a:rPr lang="en-US" dirty="0"/>
              <a:t>The relationship between food insecurity and mental health strain is complex, with many women reporting that their experiences of violence contribute to their food-related challenges.</a:t>
            </a:r>
          </a:p>
          <a:p>
            <a:pPr marL="0" indent="0">
              <a:buNone/>
            </a:pPr>
            <a:endParaRPr lang="en-US" dirty="0"/>
          </a:p>
        </p:txBody>
      </p:sp>
    </p:spTree>
    <p:extLst>
      <p:ext uri="{BB962C8B-B14F-4D97-AF65-F5344CB8AC3E}">
        <p14:creationId xmlns:p14="http://schemas.microsoft.com/office/powerpoint/2010/main" val="231904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15CF3-D271-5815-55AB-8E26759FD2E7}"/>
              </a:ext>
            </a:extLst>
          </p:cNvPr>
          <p:cNvSpPr>
            <a:spLocks noGrp="1"/>
          </p:cNvSpPr>
          <p:nvPr>
            <p:ph type="title"/>
          </p:nvPr>
        </p:nvSpPr>
        <p:spPr>
          <a:xfrm>
            <a:off x="2513012" y="457200"/>
            <a:ext cx="7924800" cy="508000"/>
          </a:xfrm>
        </p:spPr>
        <p:txBody>
          <a:bodyPr>
            <a:normAutofit fontScale="90000"/>
          </a:bodyPr>
          <a:lstStyle/>
          <a:p>
            <a:r>
              <a:rPr lang="en-US" dirty="0">
                <a:solidFill>
                  <a:srgbClr val="00B0F0"/>
                </a:solidFill>
              </a:rPr>
              <a:t>FOOD INSECURITY BY DOMESTIC VIOLENCE </a:t>
            </a:r>
            <a:br>
              <a:rPr lang="en-US" dirty="0">
                <a:solidFill>
                  <a:srgbClr val="00B0F0"/>
                </a:solidFill>
              </a:rPr>
            </a:br>
            <a:r>
              <a:rPr lang="en-US" dirty="0">
                <a:solidFill>
                  <a:srgbClr val="00B0F0"/>
                </a:solidFill>
              </a:rPr>
              <a:t>                    EXPOSURE STATUS</a:t>
            </a:r>
          </a:p>
        </p:txBody>
      </p:sp>
      <p:pic>
        <p:nvPicPr>
          <p:cNvPr id="6" name="Picture Placeholder 5">
            <a:extLst>
              <a:ext uri="{FF2B5EF4-FFF2-40B4-BE49-F238E27FC236}">
                <a16:creationId xmlns:a16="http://schemas.microsoft.com/office/drawing/2014/main" id="{98CBAF3F-D3E9-236F-E142-E53A359D1935}"/>
              </a:ext>
            </a:extLst>
          </p:cNvPr>
          <p:cNvPicPr>
            <a:picLocks noGrp="1" noChangeAspect="1"/>
          </p:cNvPicPr>
          <p:nvPr>
            <p:ph type="pic" idx="1"/>
          </p:nvPr>
        </p:nvPicPr>
        <p:blipFill>
          <a:blip r:embed="rId2"/>
          <a:srcRect l="11071" r="11071"/>
          <a:stretch>
            <a:fillRect/>
          </a:stretch>
        </p:blipFill>
        <p:spPr>
          <a:xfrm>
            <a:off x="989012" y="956340"/>
            <a:ext cx="10058400" cy="5588000"/>
          </a:xfrm>
        </p:spPr>
      </p:pic>
    </p:spTree>
    <p:extLst>
      <p:ext uri="{BB962C8B-B14F-4D97-AF65-F5344CB8AC3E}">
        <p14:creationId xmlns:p14="http://schemas.microsoft.com/office/powerpoint/2010/main" val="280463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DDF4A-23EE-CC57-8CEE-9739EE052A59}"/>
              </a:ext>
            </a:extLst>
          </p:cNvPr>
          <p:cNvSpPr>
            <a:spLocks noGrp="1"/>
          </p:cNvSpPr>
          <p:nvPr>
            <p:ph type="title"/>
          </p:nvPr>
        </p:nvSpPr>
        <p:spPr>
          <a:xfrm>
            <a:off x="1751012" y="152400"/>
            <a:ext cx="8001000" cy="812800"/>
          </a:xfrm>
        </p:spPr>
        <p:txBody>
          <a:bodyPr>
            <a:normAutofit fontScale="90000"/>
          </a:bodyPr>
          <a:lstStyle/>
          <a:p>
            <a:pPr algn="ctr"/>
            <a:r>
              <a:rPr lang="en-US" dirty="0"/>
              <a:t>MENTAL HEALTH STRAIN INDICATOR</a:t>
            </a:r>
            <a:br>
              <a:rPr lang="en-US" dirty="0"/>
            </a:br>
            <a:r>
              <a:rPr lang="en-US" dirty="0"/>
              <a:t>BY DV EXPOSURE</a:t>
            </a:r>
          </a:p>
        </p:txBody>
      </p:sp>
      <p:pic>
        <p:nvPicPr>
          <p:cNvPr id="6" name="Picture Placeholder 5">
            <a:extLst>
              <a:ext uri="{FF2B5EF4-FFF2-40B4-BE49-F238E27FC236}">
                <a16:creationId xmlns:a16="http://schemas.microsoft.com/office/drawing/2014/main" id="{88757F30-09ED-8E3F-BE47-EF1F3CBD5FD4}"/>
              </a:ext>
            </a:extLst>
          </p:cNvPr>
          <p:cNvPicPr>
            <a:picLocks noGrp="1" noChangeAspect="1"/>
          </p:cNvPicPr>
          <p:nvPr>
            <p:ph type="pic" idx="1"/>
          </p:nvPr>
        </p:nvPicPr>
        <p:blipFill>
          <a:blip r:embed="rId2"/>
          <a:srcRect t="12052" b="12052"/>
          <a:stretch>
            <a:fillRect/>
          </a:stretch>
        </p:blipFill>
        <p:spPr>
          <a:xfrm>
            <a:off x="3046413" y="1778000"/>
            <a:ext cx="6094412" cy="3784600"/>
          </a:xfrm>
        </p:spPr>
      </p:pic>
    </p:spTree>
    <p:extLst>
      <p:ext uri="{BB962C8B-B14F-4D97-AF65-F5344CB8AC3E}">
        <p14:creationId xmlns:p14="http://schemas.microsoft.com/office/powerpoint/2010/main" val="1125727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half" idx="2"/>
          </p:nvPr>
        </p:nvSpPr>
        <p:spPr>
          <a:xfrm>
            <a:off x="2436812" y="533400"/>
            <a:ext cx="5638800" cy="4191000"/>
          </a:xfrm>
        </p:spPr>
        <p:txBody>
          <a:bodyPr>
            <a:normAutofit fontScale="92500" lnSpcReduction="20000"/>
          </a:bodyPr>
          <a:lstStyle/>
          <a:p>
            <a:r>
              <a:rPr lang="en-US" b="1" dirty="0">
                <a:solidFill>
                  <a:srgbClr val="00B0F0"/>
                </a:solidFill>
              </a:rPr>
              <a:t>Feelings of Safety</a:t>
            </a:r>
          </a:p>
          <a:p>
            <a:pPr marL="342900" indent="-342900">
              <a:buFont typeface="Arial" panose="020B0604020202020204" pitchFamily="34" charset="0"/>
              <a:buChar char="•"/>
            </a:pPr>
            <a:r>
              <a:rPr lang="en-US" b="1" dirty="0"/>
              <a:t>Increased Feelings of Unsafety: </a:t>
            </a:r>
          </a:p>
          <a:p>
            <a:r>
              <a:rPr lang="en-US" dirty="0"/>
              <a:t>Women exposed to domestic violence report feeling unsafe walking alone during both day and night.</a:t>
            </a:r>
          </a:p>
          <a:p>
            <a:r>
              <a:rPr lang="en-US" dirty="0"/>
              <a:t>This heightened sense of insecurity is a significant mental health strain indicator, affecting their overall well-being and daily functioning.</a:t>
            </a:r>
          </a:p>
          <a:p>
            <a:pPr marL="342900" indent="-342900">
              <a:buFont typeface="Arial" panose="020B0604020202020204" pitchFamily="34" charset="0"/>
              <a:buChar char="•"/>
            </a:pPr>
            <a:r>
              <a:rPr lang="en-US" b="1" dirty="0"/>
              <a:t>Conclusion</a:t>
            </a:r>
          </a:p>
          <a:p>
            <a:r>
              <a:rPr lang="en-US" dirty="0"/>
              <a:t>The evidence strongly supports that women exposed to domestic violence experience higher levels of food insecurity and feelings of unsafety, which are critical indicators of mental health strain. Addressing these issues is essential for improving the overall health and safety of survivors.</a:t>
            </a:r>
          </a:p>
          <a:p>
            <a:endParaRPr lang="en-US" dirty="0"/>
          </a:p>
        </p:txBody>
      </p:sp>
    </p:spTree>
    <p:extLst>
      <p:ext uri="{BB962C8B-B14F-4D97-AF65-F5344CB8AC3E}">
        <p14:creationId xmlns:p14="http://schemas.microsoft.com/office/powerpoint/2010/main" val="348033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C1E7D-69AF-7EDC-5F90-A4FB197A0D36}"/>
              </a:ext>
            </a:extLst>
          </p:cNvPr>
          <p:cNvSpPr>
            <a:spLocks noGrp="1"/>
          </p:cNvSpPr>
          <p:nvPr>
            <p:ph type="title"/>
          </p:nvPr>
        </p:nvSpPr>
        <p:spPr>
          <a:xfrm>
            <a:off x="2132012" y="685800"/>
            <a:ext cx="7239000" cy="685800"/>
          </a:xfrm>
        </p:spPr>
        <p:txBody>
          <a:bodyPr/>
          <a:lstStyle/>
          <a:p>
            <a:pPr algn="ctr"/>
            <a:r>
              <a:rPr lang="en-US" dirty="0">
                <a:solidFill>
                  <a:srgbClr val="00B0F0"/>
                </a:solidFill>
              </a:rPr>
              <a:t>SUMMARY OF FINDINGS:</a:t>
            </a:r>
          </a:p>
        </p:txBody>
      </p:sp>
      <p:sp>
        <p:nvSpPr>
          <p:cNvPr id="3" name="Text Placeholder 2">
            <a:extLst>
              <a:ext uri="{FF2B5EF4-FFF2-40B4-BE49-F238E27FC236}">
                <a16:creationId xmlns:a16="http://schemas.microsoft.com/office/drawing/2014/main" id="{678D48E9-A836-B446-CEBD-E5585F11B39D}"/>
              </a:ext>
            </a:extLst>
          </p:cNvPr>
          <p:cNvSpPr>
            <a:spLocks noGrp="1"/>
          </p:cNvSpPr>
          <p:nvPr>
            <p:ph type="body" sz="half" idx="2"/>
          </p:nvPr>
        </p:nvSpPr>
        <p:spPr>
          <a:xfrm>
            <a:off x="3122612" y="1676400"/>
            <a:ext cx="5308071" cy="3505200"/>
          </a:xfrm>
        </p:spPr>
        <p:txBody>
          <a:bodyPr>
            <a:normAutofit/>
          </a:bodyPr>
          <a:lstStyle/>
          <a:p>
            <a:pPr marL="342900" indent="-342900">
              <a:buFont typeface="Arial" panose="020B0604020202020204" pitchFamily="34" charset="0"/>
              <a:buChar char="•"/>
            </a:pPr>
            <a:r>
              <a:rPr lang="en-US" dirty="0"/>
              <a:t>High prevalence of DV among women.</a:t>
            </a:r>
          </a:p>
          <a:p>
            <a:pPr marL="342900" indent="-342900">
              <a:buFont typeface="Arial" panose="020B0604020202020204" pitchFamily="34" charset="0"/>
              <a:buChar char="•"/>
            </a:pPr>
            <a:r>
              <a:rPr lang="en-US" dirty="0"/>
              <a:t>Significant relationships between DV exposure and safety perceptions, mental health, and help-seeking behavior.</a:t>
            </a:r>
          </a:p>
          <a:p>
            <a:pPr marL="342900" indent="-342900">
              <a:buFont typeface="Arial" panose="020B0604020202020204" pitchFamily="34" charset="0"/>
              <a:buChar char="•"/>
            </a:pPr>
            <a:r>
              <a:rPr lang="en-US" dirty="0"/>
              <a:t>Women with disabilities are at a higher risk of experiencing DV.</a:t>
            </a:r>
          </a:p>
        </p:txBody>
      </p:sp>
    </p:spTree>
    <p:extLst>
      <p:ext uri="{BB962C8B-B14F-4D97-AF65-F5344CB8AC3E}">
        <p14:creationId xmlns:p14="http://schemas.microsoft.com/office/powerpoint/2010/main" val="338818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60E57-A9CB-B6A9-5009-F7ABC8E07198}"/>
              </a:ext>
            </a:extLst>
          </p:cNvPr>
          <p:cNvSpPr>
            <a:spLocks noGrp="1"/>
          </p:cNvSpPr>
          <p:nvPr>
            <p:ph type="title"/>
          </p:nvPr>
        </p:nvSpPr>
        <p:spPr>
          <a:xfrm>
            <a:off x="3198812" y="177800"/>
            <a:ext cx="5791199" cy="812800"/>
          </a:xfrm>
        </p:spPr>
        <p:txBody>
          <a:bodyPr/>
          <a:lstStyle/>
          <a:p>
            <a:pPr algn="ctr"/>
            <a:r>
              <a:rPr lang="en-US" dirty="0">
                <a:solidFill>
                  <a:srgbClr val="00B0F0"/>
                </a:solidFill>
              </a:rPr>
              <a:t>RECOMMENDATION</a:t>
            </a:r>
          </a:p>
        </p:txBody>
      </p:sp>
      <p:sp>
        <p:nvSpPr>
          <p:cNvPr id="3" name="Text Placeholder 2">
            <a:extLst>
              <a:ext uri="{FF2B5EF4-FFF2-40B4-BE49-F238E27FC236}">
                <a16:creationId xmlns:a16="http://schemas.microsoft.com/office/drawing/2014/main" id="{1FAE705A-F46F-FD5C-DAA1-1CE4BACDADE6}"/>
              </a:ext>
            </a:extLst>
          </p:cNvPr>
          <p:cNvSpPr>
            <a:spLocks noGrp="1"/>
          </p:cNvSpPr>
          <p:nvPr>
            <p:ph type="body" sz="half" idx="2"/>
          </p:nvPr>
        </p:nvSpPr>
        <p:spPr>
          <a:xfrm>
            <a:off x="4062940" y="1676400"/>
            <a:ext cx="4062942" cy="2667000"/>
          </a:xfrm>
        </p:spPr>
        <p:txBody>
          <a:bodyPr/>
          <a:lstStyle/>
          <a:p>
            <a:r>
              <a:rPr lang="en-US" dirty="0"/>
              <a:t>Policy Implications:</a:t>
            </a:r>
          </a:p>
          <a:p>
            <a:r>
              <a:rPr lang="en-US" dirty="0"/>
              <a:t>Increase awareness and support for women experiencing DV.</a:t>
            </a:r>
          </a:p>
          <a:p>
            <a:r>
              <a:rPr lang="en-US" dirty="0"/>
              <a:t>Enhance access to resources for women with disabilities.</a:t>
            </a:r>
          </a:p>
          <a:p>
            <a:r>
              <a:rPr lang="en-US" dirty="0"/>
              <a:t>Promote education on domestic violence and its impacts.</a:t>
            </a:r>
          </a:p>
        </p:txBody>
      </p:sp>
    </p:spTree>
    <p:extLst>
      <p:ext uri="{BB962C8B-B14F-4D97-AF65-F5344CB8AC3E}">
        <p14:creationId xmlns:p14="http://schemas.microsoft.com/office/powerpoint/2010/main" val="2104846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7f9b5e87859ce6d7eedbdc6e4e4205c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5e0075ee7624d6a846e01eb6183742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Status xmlns="71af3243-3dd4-4a8d-8c0d-dd76da1f02a5">Not started</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6D9222-8445-4CAF-97EE-09B50EF08B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7CF7ACA-83DF-48D1-85D1-C482ED91F651}">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764734E9-C274-4EB4-8E27-BAE9169A44E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624</TotalTime>
  <Words>1085</Words>
  <Application>Microsoft Office PowerPoint</Application>
  <PresentationFormat>Custom</PresentationFormat>
  <Paragraphs>123</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Century</vt:lpstr>
      <vt:lpstr>Garamond</vt:lpstr>
      <vt:lpstr>Tech 16x9</vt:lpstr>
      <vt:lpstr>PowerPoint Presentation</vt:lpstr>
      <vt:lpstr> PRESENTATION BY:  GROUP 4 </vt:lpstr>
      <vt:lpstr>Objective: To analyze the prevalence of domestic violence (DV) exposure among women and its relationship with safety perceptions,well-beging,and other demographic factors.</vt:lpstr>
      <vt:lpstr>PowerPoint Presentation</vt:lpstr>
      <vt:lpstr>DOMESTIC VIOLENCE EXPOSURE BY AGE GROUP</vt:lpstr>
      <vt:lpstr>  </vt:lpstr>
      <vt:lpstr>DV BY EDUCATIONAL LEVEL</vt:lpstr>
      <vt:lpstr>PowerPoint Presentation</vt:lpstr>
      <vt:lpstr>DOMESTIC VIOLENCE ON SAFETY PERCEPTION</vt:lpstr>
      <vt:lpstr> </vt:lpstr>
      <vt:lpstr>PowerPoint Presentation</vt:lpstr>
      <vt:lpstr> </vt:lpstr>
      <vt:lpstr>CONFLICT FREQUENCE BY DOMESTIC VIOLENCE                                      EXPOSURE</vt:lpstr>
      <vt:lpstr>Moderation Analysis </vt:lpstr>
      <vt:lpstr>HELP-SEEKING BEHAVOR BY DOMESTIC VIOLENCE                                       EXPOSURE</vt:lpstr>
      <vt:lpstr>PowerPoint Presentation</vt:lpstr>
      <vt:lpstr>WELL-BEING SCORES BY DISABILITY STATUS</vt:lpstr>
      <vt:lpstr>DV EXPOSURE BY DISABILITY STATUS</vt:lpstr>
      <vt:lpstr>PowerPoint Presentation</vt:lpstr>
      <vt:lpstr>PowerPoint Presentation</vt:lpstr>
      <vt:lpstr>FOOD INSECURITY BY DOMESTIC VIOLENCE                      EXPOSURE STATUS</vt:lpstr>
      <vt:lpstr>MENTAL HEALTH STRAIN INDICATOR BY DV EXPOSURE</vt:lpstr>
      <vt:lpstr>PowerPoint Presentation</vt:lpstr>
      <vt:lpstr>SUMMARY OF FINDINGS:</vt:lpstr>
      <vt:lpstr>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ISA IBRAHIM ALIYU</dc:creator>
  <cp:lastModifiedBy>Emmanuel Omotayo</cp:lastModifiedBy>
  <cp:revision>4</cp:revision>
  <dcterms:created xsi:type="dcterms:W3CDTF">2025-08-19T09:33:13Z</dcterms:created>
  <dcterms:modified xsi:type="dcterms:W3CDTF">2025-08-19T22:44:17Z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